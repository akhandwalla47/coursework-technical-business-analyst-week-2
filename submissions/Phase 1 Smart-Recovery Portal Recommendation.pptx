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nter SemiBold"/>
      <p:regular r:id="rId15"/>
      <p:bold r:id="rId16"/>
      <p:italic r:id="rId17"/>
      <p:boldItalic r:id="rId18"/>
    </p:embeddedFont>
    <p:embeddedFont>
      <p:font typeface="Inter"/>
      <p:bold r:id="rId19"/>
      <p:boldItalic r:id="rId20"/>
    </p:embeddedFont>
    <p:embeddedFont>
      <p:font typeface="Inter ExtraBold"/>
      <p:bold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6.xml"/><Relationship Id="rId22" Type="http://schemas.openxmlformats.org/officeDocument/2006/relationships/font" Target="fonts/InterExtraBold-boldItalic.fntdata"/><Relationship Id="rId10" Type="http://schemas.openxmlformats.org/officeDocument/2006/relationships/slide" Target="slides/slide5.xml"/><Relationship Id="rId21" Type="http://schemas.openxmlformats.org/officeDocument/2006/relationships/font" Target="fonts/InterExtraBold-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regular.fntdata"/><Relationship Id="rId14" Type="http://schemas.openxmlformats.org/officeDocument/2006/relationships/slide" Target="slides/slide9.xml"/><Relationship Id="rId17" Type="http://schemas.openxmlformats.org/officeDocument/2006/relationships/font" Target="fonts/InterSemiBold-italic.fntdata"/><Relationship Id="rId16" Type="http://schemas.openxmlformats.org/officeDocument/2006/relationships/font" Target="fonts/InterSemiBold-bold.fntdata"/><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Semi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5dfd9edd9a78abef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h5dfd9edd9a78abef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morning Daniel, Priya, and Gareth. Leading directly with our recommendation: I am asking senior leadership to approve a focused Phase 1 build of the Smart-Recovery self-service portal. By digitising routine early-stage collection journeys and automatically routing complex cases to our representatives with full interaction history attached, we remove over 60,000 hours of redundant manual work annually. Even under a pessimistic 50% adoption scenario, this £260,000 investment pays for itself in under five months.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5dfd9edd9a78abef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h5dfd9edd9a78abef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operational baseline is unsustainable. We have 38,000 early-stage delinquent accounts entering our queues every month, yet our representatives are forced to act as human lookup tools. Over 4,300 monthly tasks consist of pure manual status checking and spreadsheet cross-referencing. Every month of delay costs us £110,000 in redundant labor while clogging phone lines for customers who simply want to resolve their debt online.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5dfd9edd9a78abef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5dfd9edd9a78abef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Discovery evidence showed a clear mismatch between customer demand and operational reality. Forty percent of our delinquent customers want to settle their debt privately without phone friction. Because we lack a self-service front end, these simple cases swamp our call queues. Meanwhile, our internal teams rely on fragmented spreadsheets, losing case notes across shifts and leaving management blind to operational throughput.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h5dfd9edd9a78abef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h5dfd9edd9a78abef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Daniel, looking at our financial model: bundling our top four discovery opportunities requires a total capital expenditure of £260,000. Under our base case, eliminating 60,800 representative hours saves £1.34 million annually, paying back our investment in 10 weeks. Even if we stress-test this with a conservative 50% adoption drag to account for change friction, the project still achieves full payback in 4.6 months.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5dfd9edd9a78abef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h5dfd9edd9a78abef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Priya and Gareth, scope discipline has been our top priority. Phase 1 targets the 38% of accounts that are straightforward and early-stage. We have explicitly excluded financial hardship, balance disputes, and legal watch accounts. These complex cases bypass self-service entirely and remain 100% human-led, ensuring we protect vulnerable customers while keeping our build timeline tight.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5dfd9edd9a78abef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h5dfd9edd9a78abef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To-Be workflow illustrates how our customer and representative paths connect. The customer authenticates via 2FA and views real-time balance details read directly from our legacy database. If they select a payment plan or promise date, the agreement writes straight back to the database and triggers an automated receipt. If 2FA fails or a hardship flag is selected, the portal routes the case directly to a representative queue with full interaction history attached.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5dfd9edd9a78abef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h5dfd9edd9a78abef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Priya, we have delivered 'buildable thinking' rather than abstract ideas. Our Jira backlog contains 15 technical user stories complete with Given/When/Then acceptance criteria. We have also built a clickable 7-screen Copilot prototype that proves the journey flow, payment validation, and exception routing work seamlessly while explicitly flagging our core legacy database dependencies.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5dfd9edd9a78abef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5dfd9edd9a78abef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Gareth, we know systems fail if operational teams don't trust them. We have embedded ADKAR change mitigations directly into our backlog. By building context-rich hand-off payloads, representatives receive complete session histories for every routed ticket so customers never repeat information. Furthermore, real-time dashboards give managers full visibility over queue shift and capacity savings.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5dfd9edd9a78abef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5dfd9edd9a78abef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conclude: we have a rock-solid business case, strict scope boundaries, and a fully prepared engineering backlog. I invite Daniel, Priya, and Gareth to formally approve Phase 1 funding today so we can begin Sprint 1 planning next week. Thank you, and I am now ready to answer your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5dfd9edd9a78abef_14_0)">
  <p:cSld name="Generated (h5dfd9edd9a78abef_14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8" name="Google Shape;58;p14"/>
          <p:cNvGrpSpPr/>
          <p:nvPr/>
        </p:nvGrpSpPr>
        <p:grpSpPr>
          <a:xfrm>
            <a:off x="381000" y="304800"/>
            <a:ext cx="1733700" cy="304950"/>
            <a:chOff x="0" y="0"/>
            <a:chExt cx="1733700" cy="304950"/>
          </a:xfrm>
        </p:grpSpPr>
        <p:sp>
          <p:nvSpPr>
            <p:cNvPr id="59" name="Google Shape;59;p14"/>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62" name="Google Shape;62;p14"/>
          <p:cNvSpPr txBox="1"/>
          <p:nvPr/>
        </p:nvSpPr>
        <p:spPr>
          <a:xfrm>
            <a:off x="381000" y="714375"/>
            <a:ext cx="838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2600">
                <a:solidFill>
                  <a:srgbClr val="0A0A0A"/>
                </a:solidFill>
                <a:latin typeface="Inter ExtraBold"/>
                <a:ea typeface="Inter ExtraBold"/>
                <a:cs typeface="Inter ExtraBold"/>
                <a:sym typeface="Inter ExtraBold"/>
              </a:rPr>
              <a:t>Phase 1 Smart-Recovery Portal Recommendation</a:t>
            </a:r>
            <a:endParaRPr b="0" sz="2600">
              <a:solidFill>
                <a:srgbClr val="0A0A0A"/>
              </a:solidFill>
              <a:latin typeface="Inter ExtraBold"/>
              <a:ea typeface="Inter ExtraBold"/>
              <a:cs typeface="Inter ExtraBold"/>
              <a:sym typeface="Inter ExtraBold"/>
            </a:endParaRPr>
          </a:p>
        </p:txBody>
      </p:sp>
      <p:grpSp>
        <p:nvGrpSpPr>
          <p:cNvPr id="63" name="Google Shape;63;p14"/>
          <p:cNvGrpSpPr/>
          <p:nvPr/>
        </p:nvGrpSpPr>
        <p:grpSpPr>
          <a:xfrm>
            <a:off x="381000" y="1381125"/>
            <a:ext cx="3905400" cy="3286200"/>
            <a:chOff x="0" y="0"/>
            <a:chExt cx="3905400" cy="3286200"/>
          </a:xfrm>
        </p:grpSpPr>
        <p:sp>
          <p:nvSpPr>
            <p:cNvPr id="64" name="Google Shape;64;p14"/>
            <p:cNvSpPr/>
            <p:nvPr/>
          </p:nvSpPr>
          <p:spPr>
            <a:xfrm>
              <a:off x="0" y="0"/>
              <a:ext cx="3905400" cy="32862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0" y="0"/>
              <a:ext cx="39054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txBox="1"/>
            <p:nvPr/>
          </p:nvSpPr>
          <p:spPr>
            <a:xfrm>
              <a:off x="266700" y="228600"/>
              <a:ext cx="3372000" cy="28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FFFFF"/>
                  </a:solidFill>
                  <a:latin typeface="Inter"/>
                  <a:ea typeface="Inter"/>
                  <a:cs typeface="Inter"/>
                  <a:sym typeface="Inter"/>
                </a:rPr>
                <a:t>RECOMMENDATION &amp; OVERVIEW</a:t>
              </a:r>
              <a:endParaRPr b="1" sz="1000">
                <a:solidFill>
                  <a:srgbClr val="FFFFFF"/>
                </a:solidFill>
                <a:latin typeface="Inter"/>
                <a:ea typeface="Inter"/>
                <a:cs typeface="Inter"/>
                <a:sym typeface="Inter"/>
              </a:endParaRPr>
            </a:p>
            <a:p>
              <a:pPr indent="0" lvl="0" marL="0" rtl="0" algn="l">
                <a:spcBef>
                  <a:spcPts val="600"/>
                </a:spcBef>
                <a:spcAft>
                  <a:spcPts val="0"/>
                </a:spcAft>
                <a:buNone/>
              </a:pPr>
              <a:r>
                <a:rPr b="1" lang="en" sz="1600">
                  <a:solidFill>
                    <a:srgbClr val="FFFFFF"/>
                  </a:solidFill>
                  <a:latin typeface="Inter"/>
                  <a:ea typeface="Inter"/>
                  <a:cs typeface="Inter"/>
                  <a:sym typeface="Inter"/>
                </a:rPr>
                <a:t>Approve a £260,000 capital expenditure for a focused Phase 1 Smart-Recovery portal.</a:t>
              </a:r>
              <a:endParaRPr b="1" sz="1600">
                <a:solidFill>
                  <a:srgbClr val="FFFFFF"/>
                </a:solidFill>
                <a:latin typeface="Inter"/>
                <a:ea typeface="Inter"/>
                <a:cs typeface="Inter"/>
                <a:sym typeface="Inter"/>
              </a:endParaRPr>
            </a:p>
            <a:p>
              <a:pPr indent="0" lvl="0" marL="0" rtl="0" algn="l">
                <a:spcBef>
                  <a:spcPts val="900"/>
                </a:spcBef>
                <a:spcAft>
                  <a:spcPts val="0"/>
                </a:spcAft>
                <a:buNone/>
              </a:pPr>
              <a:r>
                <a:rPr b="0" lang="en" sz="1100">
                  <a:solidFill>
                    <a:srgbClr val="FFFFFF"/>
                  </a:solidFill>
                  <a:latin typeface="Inter"/>
                  <a:ea typeface="Inter"/>
                  <a:cs typeface="Inter"/>
                  <a:sym typeface="Inter"/>
                </a:rPr>
                <a:t>Digitises simple self-serve debt recovery journeys for early-stage accounts (1–29 DPD) while automatically routing complex cases to representatives with full context.</a:t>
              </a:r>
              <a:endParaRPr b="0" sz="1100">
                <a:solidFill>
                  <a:srgbClr val="FFFFFF"/>
                </a:solidFill>
                <a:latin typeface="Inter"/>
                <a:ea typeface="Inter"/>
                <a:cs typeface="Inter"/>
                <a:sym typeface="Inter"/>
              </a:endParaRPr>
            </a:p>
            <a:p>
              <a:pPr indent="0" lvl="0" marL="0" rtl="0" algn="l">
                <a:spcBef>
                  <a:spcPts val="1200"/>
                </a:spcBef>
                <a:spcAft>
                  <a:spcPts val="0"/>
                </a:spcAft>
                <a:buNone/>
              </a:pPr>
              <a:r>
                <a:rPr b="1" lang="en" sz="1000">
                  <a:solidFill>
                    <a:srgbClr val="0055FF"/>
                  </a:solidFill>
                  <a:latin typeface="Inter"/>
                  <a:ea typeface="Inter"/>
                  <a:cs typeface="Inter"/>
                  <a:sym typeface="Inter"/>
                </a:rPr>
                <a:t>OPERATIONAL CONTROL</a:t>
              </a:r>
              <a:endParaRPr b="1" sz="1000">
                <a:solidFill>
                  <a:srgbClr val="0055FF"/>
                </a:solidFill>
                <a:latin typeface="Inter"/>
                <a:ea typeface="Inter"/>
                <a:cs typeface="Inter"/>
                <a:sym typeface="Inter"/>
              </a:endParaRPr>
            </a:p>
            <a:p>
              <a:pPr indent="0" lvl="0" marL="0" rtl="0" algn="l">
                <a:spcBef>
                  <a:spcPts val="300"/>
                </a:spcBef>
                <a:spcAft>
                  <a:spcPts val="600"/>
                </a:spcAft>
                <a:buNone/>
              </a:pPr>
              <a:r>
                <a:rPr b="0" lang="en" sz="1050">
                  <a:solidFill>
                    <a:srgbClr val="FFFFFF"/>
                  </a:solidFill>
                  <a:latin typeface="Inter"/>
                  <a:ea typeface="Inter"/>
                  <a:cs typeface="Inter"/>
                  <a:sym typeface="Inter"/>
                </a:rPr>
                <a:t>Financial hardship, balance disputes, and late-stage accounts remain 100% human-led to eliminate regulatory risk.</a:t>
              </a:r>
              <a:endParaRPr b="0" sz="1050">
                <a:solidFill>
                  <a:srgbClr val="FFFFFF"/>
                </a:solidFill>
                <a:latin typeface="Inter"/>
                <a:ea typeface="Inter"/>
                <a:cs typeface="Inter"/>
                <a:sym typeface="Inter"/>
              </a:endParaRPr>
            </a:p>
          </p:txBody>
        </p:sp>
      </p:grpSp>
      <p:grpSp>
        <p:nvGrpSpPr>
          <p:cNvPr id="67" name="Google Shape;67;p14"/>
          <p:cNvGrpSpPr/>
          <p:nvPr/>
        </p:nvGrpSpPr>
        <p:grpSpPr>
          <a:xfrm>
            <a:off x="4476750" y="1381125"/>
            <a:ext cx="4286400" cy="1762200"/>
            <a:chOff x="0" y="0"/>
            <a:chExt cx="4286400" cy="1762200"/>
          </a:xfrm>
        </p:grpSpPr>
        <p:sp>
          <p:nvSpPr>
            <p:cNvPr id="68" name="Google Shape;68;p14"/>
            <p:cNvSpPr/>
            <p:nvPr/>
          </p:nvSpPr>
          <p:spPr>
            <a:xfrm>
              <a:off x="0" y="0"/>
              <a:ext cx="4286400" cy="17622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14"/>
            <p:cNvSpPr/>
            <p:nvPr/>
          </p:nvSpPr>
          <p:spPr>
            <a:xfrm>
              <a:off x="0" y="0"/>
              <a:ext cx="38100" cy="1762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txBox="1"/>
            <p:nvPr/>
          </p:nvSpPr>
          <p:spPr>
            <a:xfrm>
              <a:off x="190500" y="152400"/>
              <a:ext cx="3905400" cy="14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5FF"/>
                  </a:solidFill>
                  <a:latin typeface="Inter"/>
                  <a:ea typeface="Inter"/>
                  <a:cs typeface="Inter"/>
                  <a:sym typeface="Inter"/>
                </a:rPr>
                <a:t>FINANCIAL RETURN SCENARIOS</a:t>
              </a:r>
              <a:endParaRPr b="1" sz="1000">
                <a:solidFill>
                  <a:srgbClr val="0055FF"/>
                </a:solidFill>
                <a:latin typeface="Inter"/>
                <a:ea typeface="Inter"/>
                <a:cs typeface="Inter"/>
                <a:sym typeface="Inter"/>
              </a:endParaRPr>
            </a:p>
            <a:p>
              <a:pPr indent="0" lvl="0" marL="0" rtl="0" algn="l">
                <a:spcBef>
                  <a:spcPts val="600"/>
                </a:spcBef>
                <a:spcAft>
                  <a:spcPts val="0"/>
                </a:spcAft>
                <a:buNone/>
              </a:pPr>
              <a:r>
                <a:rPr b="1" lang="en" sz="1200">
                  <a:solidFill>
                    <a:srgbClr val="0A0A0A"/>
                  </a:solidFill>
                  <a:latin typeface="Inter"/>
                  <a:ea typeface="Inter"/>
                  <a:cs typeface="Inter"/>
                  <a:sym typeface="Inter"/>
                </a:rPr>
                <a:t>Base Case</a:t>
              </a:r>
              <a:endParaRPr b="1" sz="12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Saves 60,800 operational hours annually (£1.34M labor efficiency), achieving full payback in 2.33 months.</a:t>
              </a:r>
              <a:endParaRPr b="0" sz="1100">
                <a:solidFill>
                  <a:srgbClr val="4A4A4A"/>
                </a:solidFill>
                <a:latin typeface="Inter"/>
                <a:ea typeface="Inter"/>
                <a:cs typeface="Inter"/>
                <a:sym typeface="Inter"/>
              </a:endParaRPr>
            </a:p>
            <a:p>
              <a:pPr indent="0" lvl="0" marL="0" rtl="0" algn="l">
                <a:spcBef>
                  <a:spcPts val="750"/>
                </a:spcBef>
                <a:spcAft>
                  <a:spcPts val="0"/>
                </a:spcAft>
                <a:buNone/>
              </a:pPr>
              <a:r>
                <a:rPr b="1" lang="en" sz="1200">
                  <a:solidFill>
                    <a:srgbClr val="0A0A0A"/>
                  </a:solidFill>
                  <a:latin typeface="Inter"/>
                  <a:ea typeface="Inter"/>
                  <a:cs typeface="Inter"/>
                  <a:sym typeface="Inter"/>
                </a:rPr>
                <a:t>Risk-Adjusted Case (50% Adoption Drag)</a:t>
              </a:r>
              <a:endParaRPr b="1" sz="12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Saves 30,400 hours (£668,800 savings), achieving full payback in 4.6 months.</a:t>
              </a:r>
              <a:endParaRPr b="0" sz="1100">
                <a:solidFill>
                  <a:srgbClr val="4A4A4A"/>
                </a:solidFill>
                <a:latin typeface="Inter"/>
                <a:ea typeface="Inter"/>
                <a:cs typeface="Inter"/>
                <a:sym typeface="Inter"/>
              </a:endParaRPr>
            </a:p>
          </p:txBody>
        </p:sp>
      </p:grpSp>
      <p:grpSp>
        <p:nvGrpSpPr>
          <p:cNvPr id="71" name="Google Shape;71;p14"/>
          <p:cNvGrpSpPr/>
          <p:nvPr/>
        </p:nvGrpSpPr>
        <p:grpSpPr>
          <a:xfrm>
            <a:off x="4476750" y="3333750"/>
            <a:ext cx="4286250" cy="1333500"/>
            <a:chOff x="0" y="0"/>
            <a:chExt cx="4286250" cy="1333500"/>
          </a:xfrm>
        </p:grpSpPr>
        <p:grpSp>
          <p:nvGrpSpPr>
            <p:cNvPr id="72" name="Google Shape;72;p14"/>
            <p:cNvGrpSpPr/>
            <p:nvPr/>
          </p:nvGrpSpPr>
          <p:grpSpPr>
            <a:xfrm>
              <a:off x="0" y="0"/>
              <a:ext cx="1333500" cy="1333500"/>
              <a:chOff x="0" y="0"/>
              <a:chExt cx="1333500" cy="1333500"/>
            </a:xfrm>
          </p:grpSpPr>
          <p:sp>
            <p:nvSpPr>
              <p:cNvPr id="73" name="Google Shape;73;p14"/>
              <p:cNvSpPr/>
              <p:nvPr/>
            </p:nvSpPr>
            <p:spPr>
              <a:xfrm>
                <a:off x="0" y="0"/>
                <a:ext cx="1333500" cy="1333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p:nvPr/>
            </p:nvSpPr>
            <p:spPr>
              <a:xfrm>
                <a:off x="0" y="0"/>
                <a:ext cx="13335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14"/>
              <p:cNvSpPr txBox="1"/>
              <p:nvPr/>
            </p:nvSpPr>
            <p:spPr>
              <a:xfrm>
                <a:off x="114300" y="133350"/>
                <a:ext cx="1104900" cy="10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055FF"/>
                    </a:solidFill>
                    <a:latin typeface="Inter"/>
                    <a:ea typeface="Inter"/>
                    <a:cs typeface="Inter"/>
                    <a:sym typeface="Inter"/>
                  </a:rPr>
                  <a:t>BASE SAVINGS</a:t>
                </a:r>
                <a:endParaRPr b="1" sz="850">
                  <a:solidFill>
                    <a:srgbClr val="0055FF"/>
                  </a:solidFill>
                  <a:latin typeface="Inter"/>
                  <a:ea typeface="Inter"/>
                  <a:cs typeface="Inter"/>
                  <a:sym typeface="Inter"/>
                </a:endParaRPr>
              </a:p>
              <a:p>
                <a:pPr indent="0" lvl="0" marL="0" rtl="0" algn="l">
                  <a:spcBef>
                    <a:spcPts val="300"/>
                  </a:spcBef>
                  <a:spcAft>
                    <a:spcPts val="0"/>
                  </a:spcAft>
                  <a:buNone/>
                </a:pPr>
                <a:r>
                  <a:rPr b="0" lang="en" sz="2200">
                    <a:solidFill>
                      <a:srgbClr val="0A0A0A"/>
                    </a:solidFill>
                    <a:latin typeface="Inter ExtraBold"/>
                    <a:ea typeface="Inter ExtraBold"/>
                    <a:cs typeface="Inter ExtraBold"/>
                    <a:sym typeface="Inter ExtraBold"/>
                  </a:rPr>
                  <a:t>£1.34M</a:t>
                </a:r>
                <a:endParaRPr b="0" sz="2200">
                  <a:solidFill>
                    <a:srgbClr val="0A0A0A"/>
                  </a:solidFill>
                  <a:latin typeface="Inter ExtraBold"/>
                  <a:ea typeface="Inter ExtraBold"/>
                  <a:cs typeface="Inter ExtraBold"/>
                  <a:sym typeface="Inter ExtraBold"/>
                </a:endParaRPr>
              </a:p>
              <a:p>
                <a:pPr indent="0" lvl="0" marL="0" rtl="0" algn="l">
                  <a:spcBef>
                    <a:spcPts val="300"/>
                  </a:spcBef>
                  <a:spcAft>
                    <a:spcPts val="600"/>
                  </a:spcAft>
                  <a:buNone/>
                </a:pPr>
                <a:r>
                  <a:rPr b="0" lang="en" sz="950">
                    <a:solidFill>
                      <a:srgbClr val="4A4A4A"/>
                    </a:solidFill>
                    <a:latin typeface="Inter"/>
                    <a:ea typeface="Inter"/>
                    <a:cs typeface="Inter"/>
                    <a:sym typeface="Inter"/>
                  </a:rPr>
                  <a:t>60.8k hrs/yr labor efficiency</a:t>
                </a:r>
                <a:endParaRPr b="0" sz="950">
                  <a:solidFill>
                    <a:srgbClr val="4A4A4A"/>
                  </a:solidFill>
                  <a:latin typeface="Inter"/>
                  <a:ea typeface="Inter"/>
                  <a:cs typeface="Inter"/>
                  <a:sym typeface="Inter"/>
                </a:endParaRPr>
              </a:p>
            </p:txBody>
          </p:sp>
        </p:grpSp>
        <p:grpSp>
          <p:nvGrpSpPr>
            <p:cNvPr id="76" name="Google Shape;76;p14"/>
            <p:cNvGrpSpPr/>
            <p:nvPr/>
          </p:nvGrpSpPr>
          <p:grpSpPr>
            <a:xfrm>
              <a:off x="1476375" y="0"/>
              <a:ext cx="1333500" cy="1333500"/>
              <a:chOff x="0" y="0"/>
              <a:chExt cx="1333500" cy="1333500"/>
            </a:xfrm>
          </p:grpSpPr>
          <p:sp>
            <p:nvSpPr>
              <p:cNvPr id="77" name="Google Shape;77;p14"/>
              <p:cNvSpPr/>
              <p:nvPr/>
            </p:nvSpPr>
            <p:spPr>
              <a:xfrm>
                <a:off x="0" y="0"/>
                <a:ext cx="1333500" cy="1333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4"/>
              <p:cNvSpPr/>
              <p:nvPr/>
            </p:nvSpPr>
            <p:spPr>
              <a:xfrm>
                <a:off x="0" y="0"/>
                <a:ext cx="13335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 name="Google Shape;79;p14"/>
              <p:cNvSpPr txBox="1"/>
              <p:nvPr/>
            </p:nvSpPr>
            <p:spPr>
              <a:xfrm>
                <a:off x="114300" y="133350"/>
                <a:ext cx="1104900" cy="10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055FF"/>
                    </a:solidFill>
                    <a:latin typeface="Inter"/>
                    <a:ea typeface="Inter"/>
                    <a:cs typeface="Inter"/>
                    <a:sym typeface="Inter"/>
                  </a:rPr>
                  <a:t>BASE PAYBACK</a:t>
                </a:r>
                <a:endParaRPr b="1" sz="850">
                  <a:solidFill>
                    <a:srgbClr val="0055FF"/>
                  </a:solidFill>
                  <a:latin typeface="Inter"/>
                  <a:ea typeface="Inter"/>
                  <a:cs typeface="Inter"/>
                  <a:sym typeface="Inter"/>
                </a:endParaRPr>
              </a:p>
              <a:p>
                <a:pPr indent="0" lvl="0" marL="0" rtl="0" algn="l">
                  <a:spcBef>
                    <a:spcPts val="300"/>
                  </a:spcBef>
                  <a:spcAft>
                    <a:spcPts val="0"/>
                  </a:spcAft>
                  <a:buNone/>
                </a:pPr>
                <a:r>
                  <a:rPr b="0" lang="en" sz="2200">
                    <a:solidFill>
                      <a:srgbClr val="0A0A0A"/>
                    </a:solidFill>
                    <a:latin typeface="Inter ExtraBold"/>
                    <a:ea typeface="Inter ExtraBold"/>
                    <a:cs typeface="Inter ExtraBold"/>
                    <a:sym typeface="Inter ExtraBold"/>
                  </a:rPr>
                  <a:t>2.33</a:t>
                </a:r>
                <a:endParaRPr b="0" sz="2200">
                  <a:solidFill>
                    <a:srgbClr val="0A0A0A"/>
                  </a:solidFill>
                  <a:latin typeface="Inter ExtraBold"/>
                  <a:ea typeface="Inter ExtraBold"/>
                  <a:cs typeface="Inter ExtraBold"/>
                  <a:sym typeface="Inter ExtraBold"/>
                </a:endParaRPr>
              </a:p>
              <a:p>
                <a:pPr indent="0" lvl="0" marL="0" rtl="0" algn="l">
                  <a:spcBef>
                    <a:spcPts val="300"/>
                  </a:spcBef>
                  <a:spcAft>
                    <a:spcPts val="600"/>
                  </a:spcAft>
                  <a:buNone/>
                </a:pPr>
                <a:r>
                  <a:rPr b="0" lang="en" sz="950">
                    <a:solidFill>
                      <a:srgbClr val="4A4A4A"/>
                    </a:solidFill>
                    <a:latin typeface="Inter"/>
                    <a:ea typeface="Inter"/>
                    <a:cs typeface="Inter"/>
                    <a:sym typeface="Inter"/>
                  </a:rPr>
                  <a:t>Months to full payback</a:t>
                </a:r>
                <a:endParaRPr b="0" sz="950">
                  <a:solidFill>
                    <a:srgbClr val="4A4A4A"/>
                  </a:solidFill>
                  <a:latin typeface="Inter"/>
                  <a:ea typeface="Inter"/>
                  <a:cs typeface="Inter"/>
                  <a:sym typeface="Inter"/>
                </a:endParaRPr>
              </a:p>
            </p:txBody>
          </p:sp>
        </p:grpSp>
        <p:grpSp>
          <p:nvGrpSpPr>
            <p:cNvPr id="80" name="Google Shape;80;p14"/>
            <p:cNvGrpSpPr/>
            <p:nvPr/>
          </p:nvGrpSpPr>
          <p:grpSpPr>
            <a:xfrm>
              <a:off x="2952750" y="0"/>
              <a:ext cx="1333500" cy="1333500"/>
              <a:chOff x="0" y="0"/>
              <a:chExt cx="1333500" cy="1333500"/>
            </a:xfrm>
          </p:grpSpPr>
          <p:sp>
            <p:nvSpPr>
              <p:cNvPr id="81" name="Google Shape;81;p14"/>
              <p:cNvSpPr/>
              <p:nvPr/>
            </p:nvSpPr>
            <p:spPr>
              <a:xfrm>
                <a:off x="0" y="0"/>
                <a:ext cx="1333500" cy="13335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4"/>
              <p:cNvSpPr/>
              <p:nvPr/>
            </p:nvSpPr>
            <p:spPr>
              <a:xfrm>
                <a:off x="0" y="0"/>
                <a:ext cx="13335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14"/>
              <p:cNvSpPr txBox="1"/>
              <p:nvPr/>
            </p:nvSpPr>
            <p:spPr>
              <a:xfrm>
                <a:off x="114300" y="133350"/>
                <a:ext cx="1104900" cy="1066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50">
                    <a:solidFill>
                      <a:srgbClr val="0055FF"/>
                    </a:solidFill>
                    <a:latin typeface="Inter"/>
                    <a:ea typeface="Inter"/>
                    <a:cs typeface="Inter"/>
                    <a:sym typeface="Inter"/>
                  </a:rPr>
                  <a:t>RISK PAYBACK</a:t>
                </a:r>
                <a:endParaRPr b="1" sz="850">
                  <a:solidFill>
                    <a:srgbClr val="0055FF"/>
                  </a:solidFill>
                  <a:latin typeface="Inter"/>
                  <a:ea typeface="Inter"/>
                  <a:cs typeface="Inter"/>
                  <a:sym typeface="Inter"/>
                </a:endParaRPr>
              </a:p>
              <a:p>
                <a:pPr indent="0" lvl="0" marL="0" rtl="0" algn="l">
                  <a:spcBef>
                    <a:spcPts val="300"/>
                  </a:spcBef>
                  <a:spcAft>
                    <a:spcPts val="0"/>
                  </a:spcAft>
                  <a:buNone/>
                </a:pPr>
                <a:r>
                  <a:rPr b="0" lang="en" sz="2200">
                    <a:solidFill>
                      <a:srgbClr val="0055FF"/>
                    </a:solidFill>
                    <a:latin typeface="Inter ExtraBold"/>
                    <a:ea typeface="Inter ExtraBold"/>
                    <a:cs typeface="Inter ExtraBold"/>
                    <a:sym typeface="Inter ExtraBold"/>
                  </a:rPr>
                  <a:t>4.6</a:t>
                </a:r>
                <a:endParaRPr b="0" sz="2200">
                  <a:solidFill>
                    <a:srgbClr val="0055FF"/>
                  </a:solidFill>
                  <a:latin typeface="Inter ExtraBold"/>
                  <a:ea typeface="Inter ExtraBold"/>
                  <a:cs typeface="Inter ExtraBold"/>
                  <a:sym typeface="Inter ExtraBold"/>
                </a:endParaRPr>
              </a:p>
              <a:p>
                <a:pPr indent="0" lvl="0" marL="0" rtl="0" algn="l">
                  <a:spcBef>
                    <a:spcPts val="300"/>
                  </a:spcBef>
                  <a:spcAft>
                    <a:spcPts val="600"/>
                  </a:spcAft>
                  <a:buNone/>
                </a:pPr>
                <a:r>
                  <a:rPr b="0" lang="en" sz="950">
                    <a:solidFill>
                      <a:srgbClr val="4A4A4A"/>
                    </a:solidFill>
                    <a:latin typeface="Inter"/>
                    <a:ea typeface="Inter"/>
                    <a:cs typeface="Inter"/>
                    <a:sym typeface="Inter"/>
                  </a:rPr>
                  <a:t>Months (50% adoption drag)</a:t>
                </a:r>
                <a:endParaRPr b="0" sz="950">
                  <a:solidFill>
                    <a:srgbClr val="4A4A4A"/>
                  </a:solidFill>
                  <a:latin typeface="Inter"/>
                  <a:ea typeface="Inter"/>
                  <a:cs typeface="Inter"/>
                  <a:sym typeface="Inte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15"/>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9" name="Google Shape;89;p15"/>
          <p:cNvGrpSpPr/>
          <p:nvPr/>
        </p:nvGrpSpPr>
        <p:grpSpPr>
          <a:xfrm>
            <a:off x="381000" y="304800"/>
            <a:ext cx="1733700" cy="304950"/>
            <a:chOff x="0" y="0"/>
            <a:chExt cx="1733700" cy="304950"/>
          </a:xfrm>
        </p:grpSpPr>
        <p:sp>
          <p:nvSpPr>
            <p:cNvPr id="90" name="Google Shape;90;p15"/>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5"/>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93" name="Google Shape;93;p15"/>
          <p:cNvSpPr txBox="1"/>
          <p:nvPr/>
        </p:nvSpPr>
        <p:spPr>
          <a:xfrm>
            <a:off x="381000" y="6858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870">
                <a:solidFill>
                  <a:srgbClr val="0A0A0A"/>
                </a:solidFill>
                <a:latin typeface="Inter ExtraBold"/>
                <a:ea typeface="Inter ExtraBold"/>
                <a:cs typeface="Inter ExtraBold"/>
                <a:sym typeface="Inter ExtraBold"/>
              </a:rPr>
              <a:t>Manual Overhead Drives High Unit Costs and Causes Queue Stagnation</a:t>
            </a:r>
            <a:endParaRPr b="0" sz="1870">
              <a:solidFill>
                <a:srgbClr val="0A0A0A"/>
              </a:solidFill>
              <a:latin typeface="Inter ExtraBold"/>
              <a:ea typeface="Inter ExtraBold"/>
              <a:cs typeface="Inter ExtraBold"/>
              <a:sym typeface="Inter ExtraBold"/>
            </a:endParaRPr>
          </a:p>
        </p:txBody>
      </p:sp>
      <p:grpSp>
        <p:nvGrpSpPr>
          <p:cNvPr id="94" name="Google Shape;94;p15"/>
          <p:cNvGrpSpPr/>
          <p:nvPr/>
        </p:nvGrpSpPr>
        <p:grpSpPr>
          <a:xfrm>
            <a:off x="381000" y="1333500"/>
            <a:ext cx="2667000" cy="3333900"/>
            <a:chOff x="0" y="0"/>
            <a:chExt cx="2667000" cy="3333900"/>
          </a:xfrm>
        </p:grpSpPr>
        <p:sp>
          <p:nvSpPr>
            <p:cNvPr id="95" name="Google Shape;95;p15"/>
            <p:cNvSpPr/>
            <p:nvPr/>
          </p:nvSpPr>
          <p:spPr>
            <a:xfrm>
              <a:off x="0" y="0"/>
              <a:ext cx="2667000" cy="33339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p:nvPr/>
          </p:nvSpPr>
          <p:spPr>
            <a:xfrm>
              <a:off x="0" y="0"/>
              <a:ext cx="26670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228600" y="228600"/>
              <a:ext cx="2209800" cy="287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5FF"/>
                  </a:solidFill>
                  <a:latin typeface="Inter"/>
                  <a:ea typeface="Inter"/>
                  <a:cs typeface="Inter"/>
                  <a:sym typeface="Inter"/>
                </a:rPr>
                <a:t>OPERATIONAL WASTE</a:t>
              </a:r>
              <a:endParaRPr b="1" sz="1000">
                <a:solidFill>
                  <a:srgbClr val="0055FF"/>
                </a:solidFill>
                <a:latin typeface="Inter"/>
                <a:ea typeface="Inter"/>
                <a:cs typeface="Inter"/>
                <a:sym typeface="Inter"/>
              </a:endParaRPr>
            </a:p>
            <a:p>
              <a:pPr indent="0" lvl="0" marL="0" rtl="0" algn="l">
                <a:spcBef>
                  <a:spcPts val="450"/>
                </a:spcBef>
                <a:spcAft>
                  <a:spcPts val="0"/>
                </a:spcAft>
                <a:buNone/>
              </a:pPr>
              <a:r>
                <a:rPr b="0" lang="en" sz="3800">
                  <a:solidFill>
                    <a:srgbClr val="0A0A0A"/>
                  </a:solidFill>
                  <a:latin typeface="Inter ExtraBold"/>
                  <a:ea typeface="Inter ExtraBold"/>
                  <a:cs typeface="Inter ExtraBold"/>
                  <a:sym typeface="Inter ExtraBold"/>
                </a:rPr>
                <a:t>4,300</a:t>
              </a:r>
              <a:endParaRPr b="0" sz="3800">
                <a:solidFill>
                  <a:srgbClr val="0A0A0A"/>
                </a:solidFill>
                <a:latin typeface="Inter ExtraBold"/>
                <a:ea typeface="Inter ExtraBold"/>
                <a:cs typeface="Inter ExtraBold"/>
                <a:sym typeface="Inter ExtraBold"/>
              </a:endParaRPr>
            </a:p>
            <a:p>
              <a:pPr indent="0" lvl="0" marL="0" rtl="0" algn="l">
                <a:spcBef>
                  <a:spcPts val="300"/>
                </a:spcBef>
                <a:spcAft>
                  <a:spcPts val="0"/>
                </a:spcAft>
                <a:buNone/>
              </a:pPr>
              <a:r>
                <a:rPr b="1" lang="en" sz="1100">
                  <a:solidFill>
                    <a:srgbClr val="0055FF"/>
                  </a:solidFill>
                  <a:latin typeface="Inter"/>
                  <a:ea typeface="Inter"/>
                  <a:cs typeface="Inter"/>
                  <a:sym typeface="Inter"/>
                </a:rPr>
                <a:t>Monthly Manual Actions</a:t>
              </a:r>
              <a:endParaRPr b="1" sz="1100">
                <a:solidFill>
                  <a:srgbClr val="0055FF"/>
                </a:solidFill>
                <a:latin typeface="Inter"/>
                <a:ea typeface="Inter"/>
                <a:cs typeface="Inter"/>
                <a:sym typeface="Inter"/>
              </a:endParaRPr>
            </a:p>
            <a:p>
              <a:pPr indent="0" lvl="0" marL="0" rtl="0" algn="l">
                <a:spcBef>
                  <a:spcPts val="900"/>
                </a:spcBef>
                <a:spcAft>
                  <a:spcPts val="0"/>
                </a:spcAft>
                <a:buNone/>
              </a:pPr>
              <a:r>
                <a:rPr b="0" lang="en" sz="1100">
                  <a:solidFill>
                    <a:srgbClr val="4A4A4A"/>
                  </a:solidFill>
                  <a:latin typeface="Inter"/>
                  <a:ea typeface="Inter"/>
                  <a:cs typeface="Inter"/>
                  <a:sym typeface="Inter"/>
                </a:rPr>
                <a:t>Representatives execute extensive manual labor monthly, severely inflating cost per interaction.</a:t>
              </a:r>
              <a:endParaRPr b="0" sz="1100">
                <a:solidFill>
                  <a:srgbClr val="4A4A4A"/>
                </a:solidFill>
                <a:latin typeface="Inter"/>
                <a:ea typeface="Inter"/>
                <a:cs typeface="Inter"/>
                <a:sym typeface="Inter"/>
              </a:endParaRPr>
            </a:p>
            <a:p>
              <a:pPr indent="0" lvl="0" marL="0" rtl="0" algn="l">
                <a:spcBef>
                  <a:spcPts val="1200"/>
                </a:spcBef>
                <a:spcAft>
                  <a:spcPts val="0"/>
                </a:spcAft>
                <a:buNone/>
              </a:pPr>
              <a:r>
                <a:rPr b="0" lang="en" sz="1000">
                  <a:solidFill>
                    <a:srgbClr val="4A4A4A"/>
                  </a:solidFill>
                  <a:latin typeface="Inter"/>
                  <a:ea typeface="Inter"/>
                  <a:cs typeface="Inter"/>
                  <a:sym typeface="Inter"/>
                </a:rPr>
                <a:t>• </a:t>
              </a:r>
              <a:r>
                <a:rPr b="1" lang="en" sz="1000">
                  <a:solidFill>
                    <a:srgbClr val="4A4A4A"/>
                  </a:solidFill>
                  <a:latin typeface="Inter"/>
                  <a:ea typeface="Inter"/>
                  <a:cs typeface="Inter"/>
                  <a:sym typeface="Inter"/>
                </a:rPr>
                <a:t>2,468</a:t>
              </a:r>
              <a:r>
                <a:rPr b="0" lang="en" sz="1000">
                  <a:solidFill>
                    <a:srgbClr val="4A4A4A"/>
                  </a:solidFill>
                  <a:latin typeface="Inter"/>
                  <a:ea typeface="Inter"/>
                  <a:cs typeface="Inter"/>
                  <a:sym typeface="Inter"/>
                </a:rPr>
                <a:t> manual balance checks</a:t>
              </a:r>
              <a:endParaRPr b="0" sz="1000">
                <a:solidFill>
                  <a:srgbClr val="4A4A4A"/>
                </a:solidFill>
                <a:latin typeface="Inter"/>
                <a:ea typeface="Inter"/>
                <a:cs typeface="Inter"/>
                <a:sym typeface="Inter"/>
              </a:endParaRPr>
            </a:p>
            <a:p>
              <a:pPr indent="0" lvl="0" marL="0" rtl="0" algn="l">
                <a:spcBef>
                  <a:spcPts val="450"/>
                </a:spcBef>
                <a:spcAft>
                  <a:spcPts val="0"/>
                </a:spcAft>
                <a:buNone/>
              </a:pPr>
              <a:r>
                <a:rPr b="0" lang="en" sz="1000">
                  <a:solidFill>
                    <a:srgbClr val="4A4A4A"/>
                  </a:solidFill>
                  <a:latin typeface="Inter"/>
                  <a:ea typeface="Inter"/>
                  <a:cs typeface="Inter"/>
                  <a:sym typeface="Inter"/>
                </a:rPr>
                <a:t>• </a:t>
              </a:r>
              <a:r>
                <a:rPr b="1" lang="en" sz="1000">
                  <a:solidFill>
                    <a:srgbClr val="4A4A4A"/>
                  </a:solidFill>
                  <a:latin typeface="Inter"/>
                  <a:ea typeface="Inter"/>
                  <a:cs typeface="Inter"/>
                  <a:sym typeface="Inter"/>
                </a:rPr>
                <a:t>1,894</a:t>
              </a:r>
              <a:r>
                <a:rPr b="0" lang="en" sz="1000">
                  <a:solidFill>
                    <a:srgbClr val="4A4A4A"/>
                  </a:solidFill>
                  <a:latin typeface="Inter"/>
                  <a:ea typeface="Inter"/>
                  <a:cs typeface="Inter"/>
                  <a:sym typeface="Inter"/>
                </a:rPr>
                <a:t> spreadsheet reconciliations</a:t>
              </a:r>
              <a:endParaRPr b="0" sz="1000">
                <a:solidFill>
                  <a:srgbClr val="4A4A4A"/>
                </a:solidFill>
                <a:latin typeface="Inter"/>
                <a:ea typeface="Inter"/>
                <a:cs typeface="Inter"/>
                <a:sym typeface="Inter"/>
              </a:endParaRPr>
            </a:p>
          </p:txBody>
        </p:sp>
      </p:grpSp>
      <p:grpSp>
        <p:nvGrpSpPr>
          <p:cNvPr id="98" name="Google Shape;98;p15"/>
          <p:cNvGrpSpPr/>
          <p:nvPr/>
        </p:nvGrpSpPr>
        <p:grpSpPr>
          <a:xfrm>
            <a:off x="3238500" y="1333500"/>
            <a:ext cx="2667000" cy="3333900"/>
            <a:chOff x="0" y="0"/>
            <a:chExt cx="2667000" cy="3333900"/>
          </a:xfrm>
        </p:grpSpPr>
        <p:sp>
          <p:nvSpPr>
            <p:cNvPr id="99" name="Google Shape;99;p15"/>
            <p:cNvSpPr/>
            <p:nvPr/>
          </p:nvSpPr>
          <p:spPr>
            <a:xfrm>
              <a:off x="0" y="0"/>
              <a:ext cx="2667000" cy="33339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0" y="0"/>
              <a:ext cx="26670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228600" y="228600"/>
              <a:ext cx="2209800" cy="287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A0A0A"/>
                  </a:solidFill>
                  <a:latin typeface="Inter"/>
                  <a:ea typeface="Inter"/>
                  <a:cs typeface="Inter"/>
                  <a:sym typeface="Inter"/>
                </a:rPr>
                <a:t>DELINQUENCY SCALE</a:t>
              </a:r>
              <a:endParaRPr b="1" sz="1000">
                <a:solidFill>
                  <a:srgbClr val="0A0A0A"/>
                </a:solidFill>
                <a:latin typeface="Inter"/>
                <a:ea typeface="Inter"/>
                <a:cs typeface="Inter"/>
                <a:sym typeface="Inter"/>
              </a:endParaRPr>
            </a:p>
            <a:p>
              <a:pPr indent="0" lvl="0" marL="0" rtl="0" algn="l">
                <a:spcBef>
                  <a:spcPts val="450"/>
                </a:spcBef>
                <a:spcAft>
                  <a:spcPts val="0"/>
                </a:spcAft>
                <a:buNone/>
              </a:pPr>
              <a:r>
                <a:rPr b="0" lang="en" sz="3800">
                  <a:solidFill>
                    <a:srgbClr val="0055FF"/>
                  </a:solidFill>
                  <a:latin typeface="Inter ExtraBold"/>
                  <a:ea typeface="Inter ExtraBold"/>
                  <a:cs typeface="Inter ExtraBold"/>
                  <a:sym typeface="Inter ExtraBold"/>
                </a:rPr>
                <a:t>38,000</a:t>
              </a:r>
              <a:endParaRPr b="0" sz="3800">
                <a:solidFill>
                  <a:srgbClr val="0055FF"/>
                </a:solidFill>
                <a:latin typeface="Inter ExtraBold"/>
                <a:ea typeface="Inter ExtraBold"/>
                <a:cs typeface="Inter ExtraBold"/>
                <a:sym typeface="Inter ExtraBold"/>
              </a:endParaRPr>
            </a:p>
            <a:p>
              <a:pPr indent="0" lvl="0" marL="0" rtl="0" algn="l">
                <a:spcBef>
                  <a:spcPts val="300"/>
                </a:spcBef>
                <a:spcAft>
                  <a:spcPts val="0"/>
                </a:spcAft>
                <a:buNone/>
              </a:pPr>
              <a:r>
                <a:rPr b="1" lang="en" sz="1100">
                  <a:solidFill>
                    <a:srgbClr val="0A0A0A"/>
                  </a:solidFill>
                  <a:latin typeface="Inter"/>
                  <a:ea typeface="Inter"/>
                  <a:cs typeface="Inter"/>
                  <a:sym typeface="Inter"/>
                </a:rPr>
                <a:t>Early-Stage Accounts / Mo</a:t>
              </a:r>
              <a:endParaRPr b="1" sz="1100">
                <a:solidFill>
                  <a:srgbClr val="0A0A0A"/>
                </a:solidFill>
                <a:latin typeface="Inter"/>
                <a:ea typeface="Inter"/>
                <a:cs typeface="Inter"/>
                <a:sym typeface="Inter"/>
              </a:endParaRPr>
            </a:p>
            <a:p>
              <a:pPr indent="0" lvl="0" marL="0" rtl="0" algn="l">
                <a:spcBef>
                  <a:spcPts val="900"/>
                </a:spcBef>
                <a:spcAft>
                  <a:spcPts val="0"/>
                </a:spcAft>
                <a:buNone/>
              </a:pPr>
              <a:r>
                <a:rPr b="0" lang="en" sz="1100">
                  <a:solidFill>
                    <a:srgbClr val="4A4A4A"/>
                  </a:solidFill>
                  <a:latin typeface="Inter"/>
                  <a:ea typeface="Inter"/>
                  <a:cs typeface="Inter"/>
                  <a:sym typeface="Inter"/>
                </a:rPr>
                <a:t>Early-stage accounts (1–29 DPD) enter collections monthly without a self-service option.</a:t>
              </a:r>
              <a:endParaRPr b="0" sz="1100">
                <a:solidFill>
                  <a:srgbClr val="4A4A4A"/>
                </a:solidFill>
                <a:latin typeface="Inter"/>
                <a:ea typeface="Inter"/>
                <a:cs typeface="Inter"/>
                <a:sym typeface="Inter"/>
              </a:endParaRPr>
            </a:p>
            <a:p>
              <a:pPr indent="0" lvl="0" marL="0" rtl="0" algn="l">
                <a:spcBef>
                  <a:spcPts val="1200"/>
                </a:spcBef>
                <a:spcAft>
                  <a:spcPts val="0"/>
                </a:spcAft>
                <a:buNone/>
              </a:pPr>
              <a:r>
                <a:rPr b="0" lang="en" sz="1000">
                  <a:solidFill>
                    <a:srgbClr val="4A4A4A"/>
                  </a:solidFill>
                  <a:latin typeface="Inter"/>
                  <a:ea typeface="Inter"/>
                  <a:cs typeface="Inter"/>
                  <a:sym typeface="Inter"/>
                </a:rPr>
                <a:t>Forces routine, low-complexity interactions onto high-cost phone lines instead of digital channels.</a:t>
              </a:r>
              <a:endParaRPr b="0" sz="1000">
                <a:solidFill>
                  <a:srgbClr val="4A4A4A"/>
                </a:solidFill>
                <a:latin typeface="Inter"/>
                <a:ea typeface="Inter"/>
                <a:cs typeface="Inter"/>
                <a:sym typeface="Inter"/>
              </a:endParaRPr>
            </a:p>
          </p:txBody>
        </p:sp>
      </p:grpSp>
      <p:grpSp>
        <p:nvGrpSpPr>
          <p:cNvPr id="102" name="Google Shape;102;p15"/>
          <p:cNvGrpSpPr/>
          <p:nvPr/>
        </p:nvGrpSpPr>
        <p:grpSpPr>
          <a:xfrm>
            <a:off x="6096000" y="1333500"/>
            <a:ext cx="2667000" cy="3333900"/>
            <a:chOff x="0" y="0"/>
            <a:chExt cx="2667000" cy="3333900"/>
          </a:xfrm>
        </p:grpSpPr>
        <p:sp>
          <p:nvSpPr>
            <p:cNvPr id="103" name="Google Shape;103;p15"/>
            <p:cNvSpPr/>
            <p:nvPr/>
          </p:nvSpPr>
          <p:spPr>
            <a:xfrm>
              <a:off x="0" y="0"/>
              <a:ext cx="2667000" cy="33339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0" y="0"/>
              <a:ext cx="2667000" cy="381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228600" y="228600"/>
              <a:ext cx="2209800" cy="287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9230F"/>
                  </a:solidFill>
                  <a:latin typeface="Inter"/>
                  <a:ea typeface="Inter"/>
                  <a:cs typeface="Inter"/>
                  <a:sym typeface="Inter"/>
                </a:rPr>
                <a:t>BOTTLENECK IMPACT</a:t>
              </a:r>
              <a:endParaRPr/>
            </a:p>
            <a:p>
              <a:pPr indent="0" lvl="0" marL="0" rtl="0" algn="l">
                <a:spcBef>
                  <a:spcPts val="600"/>
                </a:spcBef>
                <a:spcAft>
                  <a:spcPts val="0"/>
                </a:spcAft>
                <a:buNone/>
              </a:pPr>
              <a:r>
                <a:rPr b="0" lang="en" sz="2200">
                  <a:solidFill>
                    <a:srgbClr val="0A0A0A"/>
                  </a:solidFill>
                  <a:latin typeface="Inter ExtraBold"/>
                  <a:ea typeface="Inter ExtraBold"/>
                  <a:cs typeface="Inter ExtraBold"/>
                  <a:sym typeface="Inter ExtraBold"/>
                </a:rPr>
                <a:t>Queue Stagnation</a:t>
              </a:r>
              <a:endParaRPr b="0" sz="2200">
                <a:solidFill>
                  <a:srgbClr val="0A0A0A"/>
                </a:solidFill>
                <a:latin typeface="Inter ExtraBold"/>
                <a:ea typeface="Inter ExtraBold"/>
                <a:cs typeface="Inter ExtraBold"/>
                <a:sym typeface="Inter ExtraBold"/>
              </a:endParaRPr>
            </a:p>
            <a:p>
              <a:pPr indent="0" lvl="0" marL="0" rtl="0" algn="l">
                <a:spcBef>
                  <a:spcPts val="600"/>
                </a:spcBef>
                <a:spcAft>
                  <a:spcPts val="0"/>
                </a:spcAft>
                <a:buNone/>
              </a:pPr>
              <a:r>
                <a:rPr b="0" lang="en" sz="1100">
                  <a:solidFill>
                    <a:srgbClr val="4A4A4A"/>
                  </a:solidFill>
                  <a:latin typeface="Inter"/>
                  <a:ea typeface="Inter"/>
                  <a:cs typeface="Inter"/>
                  <a:sym typeface="Inter"/>
                </a:rPr>
                <a:t>Straightforward accounts clog representative worklists, creating massive operational backlogs.</a:t>
              </a:r>
              <a:endParaRPr b="0" sz="1100">
                <a:solidFill>
                  <a:srgbClr val="4A4A4A"/>
                </a:solidFill>
                <a:latin typeface="Inter"/>
                <a:ea typeface="Inter"/>
                <a:cs typeface="Inter"/>
                <a:sym typeface="Inter"/>
              </a:endParaRPr>
            </a:p>
            <a:p>
              <a:pPr indent="0" lvl="0" marL="0" rtl="0" algn="l">
                <a:spcBef>
                  <a:spcPts val="900"/>
                </a:spcBef>
                <a:spcAft>
                  <a:spcPts val="0"/>
                </a:spcAft>
                <a:buNone/>
              </a:pPr>
              <a:r>
                <a:rPr b="1" lang="en" sz="950">
                  <a:solidFill>
                    <a:srgbClr val="D9230F"/>
                  </a:solidFill>
                  <a:highlight>
                    <a:srgbClr val="F4F5F7"/>
                  </a:highlight>
                  <a:latin typeface="Inter"/>
                  <a:ea typeface="Inter"/>
                  <a:cs typeface="Inter"/>
                  <a:sym typeface="Inter"/>
                </a:rPr>
                <a:t>CRITICAL CONSEQUENCE</a:t>
              </a:r>
              <a:endParaRPr b="1" sz="950">
                <a:solidFill>
                  <a:srgbClr val="D9230F"/>
                </a:solidFill>
                <a:highlight>
                  <a:srgbClr val="F4F5F7"/>
                </a:highlight>
                <a:latin typeface="Inter"/>
                <a:ea typeface="Inter"/>
                <a:cs typeface="Inter"/>
                <a:sym typeface="Inter"/>
              </a:endParaRPr>
            </a:p>
            <a:p>
              <a:pPr indent="0" lvl="0" marL="0" rtl="0" algn="l">
                <a:spcBef>
                  <a:spcPts val="300"/>
                </a:spcBef>
                <a:spcAft>
                  <a:spcPts val="0"/>
                </a:spcAft>
                <a:buNone/>
              </a:pPr>
              <a:r>
                <a:rPr b="0" lang="en" sz="950">
                  <a:solidFill>
                    <a:srgbClr val="4A4A4A"/>
                  </a:solidFill>
                  <a:highlight>
                    <a:srgbClr val="F4F5F7"/>
                  </a:highlight>
                  <a:latin typeface="Inter"/>
                  <a:ea typeface="Inter"/>
                  <a:cs typeface="Inter"/>
                  <a:sym typeface="Inter"/>
                </a:rPr>
                <a:t>Causes 'awaiting callback' delays and severely delays urgent outreach on high-risk accounts.</a:t>
              </a:r>
              <a:endParaRPr b="0" sz="950">
                <a:solidFill>
                  <a:srgbClr val="4A4A4A"/>
                </a:solidFill>
                <a:highlight>
                  <a:srgbClr val="F4F5F7"/>
                </a:highlight>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6"/>
          <p:cNvGrpSpPr/>
          <p:nvPr/>
        </p:nvGrpSpPr>
        <p:grpSpPr>
          <a:xfrm>
            <a:off x="0" y="0"/>
            <a:ext cx="9144000" cy="5143500"/>
            <a:chOff x="0" y="0"/>
            <a:chExt cx="9144000" cy="5143500"/>
          </a:xfrm>
        </p:grpSpPr>
        <p:sp>
          <p:nvSpPr>
            <p:cNvPr id="111" name="Google Shape;111;p16"/>
            <p:cNvSpPr/>
            <p:nvPr/>
          </p:nvSpPr>
          <p:spPr>
            <a:xfrm>
              <a:off x="0" y="0"/>
              <a:ext cx="4572000" cy="51435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6"/>
            <p:cNvSpPr/>
            <p:nvPr/>
          </p:nvSpPr>
          <p:spPr>
            <a:xfrm>
              <a:off x="457200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4" name="Google Shape;114;p16"/>
          <p:cNvGrpSpPr/>
          <p:nvPr/>
        </p:nvGrpSpPr>
        <p:grpSpPr>
          <a:xfrm>
            <a:off x="381000" y="304800"/>
            <a:ext cx="1733700" cy="304950"/>
            <a:chOff x="0" y="0"/>
            <a:chExt cx="1733700" cy="304950"/>
          </a:xfrm>
        </p:grpSpPr>
        <p:sp>
          <p:nvSpPr>
            <p:cNvPr id="115" name="Google Shape;115;p16"/>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6"/>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118" name="Google Shape;118;p16"/>
          <p:cNvSpPr txBox="1"/>
          <p:nvPr/>
        </p:nvSpPr>
        <p:spPr>
          <a:xfrm>
            <a:off x="381000" y="762000"/>
            <a:ext cx="3810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2000">
                <a:solidFill>
                  <a:srgbClr val="0A0A0A"/>
                </a:solidFill>
                <a:latin typeface="Inter ExtraBold"/>
                <a:ea typeface="Inter ExtraBold"/>
                <a:cs typeface="Inter ExtraBold"/>
                <a:sym typeface="Inter ExtraBold"/>
              </a:rPr>
              <a:t>Current Manual Workflows Fail to Meet Demands at Scale</a:t>
            </a:r>
            <a:endParaRPr b="0" sz="2000">
              <a:solidFill>
                <a:srgbClr val="0A0A0A"/>
              </a:solidFill>
              <a:latin typeface="Inter ExtraBold"/>
              <a:ea typeface="Inter ExtraBold"/>
              <a:cs typeface="Inter ExtraBold"/>
              <a:sym typeface="Inter ExtraBold"/>
            </a:endParaRPr>
          </a:p>
        </p:txBody>
      </p:sp>
      <p:grpSp>
        <p:nvGrpSpPr>
          <p:cNvPr id="119" name="Google Shape;119;p16"/>
          <p:cNvGrpSpPr/>
          <p:nvPr/>
        </p:nvGrpSpPr>
        <p:grpSpPr>
          <a:xfrm>
            <a:off x="381000" y="1619250"/>
            <a:ext cx="3810000" cy="2952900"/>
            <a:chOff x="381000" y="1619250"/>
            <a:chExt cx="3810000" cy="2952900"/>
          </a:xfrm>
        </p:grpSpPr>
        <p:sp>
          <p:nvSpPr>
            <p:cNvPr id="120" name="Google Shape;120;p16"/>
            <p:cNvSpPr/>
            <p:nvPr/>
          </p:nvSpPr>
          <p:spPr>
            <a:xfrm>
              <a:off x="381000" y="1619250"/>
              <a:ext cx="57300" cy="2952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txBox="1"/>
            <p:nvPr/>
          </p:nvSpPr>
          <p:spPr>
            <a:xfrm>
              <a:off x="571500" y="1619250"/>
              <a:ext cx="3619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5FF"/>
                  </a:solidFill>
                  <a:latin typeface="Inter"/>
                  <a:ea typeface="Inter"/>
                  <a:cs typeface="Inter"/>
                  <a:sym typeface="Inter"/>
                </a:rPr>
                <a:t>Customer Friction Impact</a:t>
              </a:r>
              <a:endParaRPr b="1" sz="1000">
                <a:solidFill>
                  <a:srgbClr val="0055FF"/>
                </a:solidFill>
                <a:latin typeface="Inter"/>
                <a:ea typeface="Inter"/>
                <a:cs typeface="Inter"/>
                <a:sym typeface="Inter"/>
              </a:endParaRPr>
            </a:p>
            <a:p>
              <a:pPr indent="0" lvl="0" marL="0" rtl="0" algn="l">
                <a:spcBef>
                  <a:spcPts val="600"/>
                </a:spcBef>
                <a:spcAft>
                  <a:spcPts val="0"/>
                </a:spcAft>
                <a:buNone/>
              </a:pPr>
              <a:r>
                <a:rPr b="0" lang="en" sz="4800">
                  <a:solidFill>
                    <a:srgbClr val="0055FF"/>
                  </a:solidFill>
                  <a:latin typeface="Inter ExtraBold"/>
                  <a:ea typeface="Inter ExtraBold"/>
                  <a:cs typeface="Inter ExtraBold"/>
                  <a:sym typeface="Inter ExtraBold"/>
                </a:rPr>
                <a:t>40%</a:t>
              </a:r>
              <a:endParaRPr b="0" sz="4800">
                <a:solidFill>
                  <a:srgbClr val="0055FF"/>
                </a:solidFill>
                <a:latin typeface="Inter ExtraBold"/>
                <a:ea typeface="Inter ExtraBold"/>
                <a:cs typeface="Inter ExtraBold"/>
                <a:sym typeface="Inter ExtraBold"/>
              </a:endParaRPr>
            </a:p>
            <a:p>
              <a:pPr indent="0" lvl="0" marL="0" rtl="0" algn="l">
                <a:spcBef>
                  <a:spcPts val="300"/>
                </a:spcBef>
                <a:spcAft>
                  <a:spcPts val="0"/>
                </a:spcAft>
                <a:buNone/>
              </a:pPr>
              <a:r>
                <a:rPr b="0" i="1" lang="en" sz="1600">
                  <a:solidFill>
                    <a:srgbClr val="0A0A0A"/>
                  </a:solidFill>
                  <a:latin typeface="Inter"/>
                  <a:ea typeface="Inter"/>
                  <a:cs typeface="Inter"/>
                  <a:sym typeface="Inter"/>
                </a:rPr>
                <a:t>"40% of customers want discreet self-resolution but currently lack portal access and believe they must call."</a:t>
              </a:r>
              <a:endParaRPr b="0" i="1" sz="1600">
                <a:solidFill>
                  <a:srgbClr val="0A0A0A"/>
                </a:solidFill>
                <a:latin typeface="Inter"/>
                <a:ea typeface="Inter"/>
                <a:cs typeface="Inter"/>
                <a:sym typeface="Inter"/>
              </a:endParaRPr>
            </a:p>
            <a:p>
              <a:pPr indent="0" lvl="0" marL="0" rtl="0" algn="l">
                <a:spcBef>
                  <a:spcPts val="900"/>
                </a:spcBef>
                <a:spcAft>
                  <a:spcPts val="0"/>
                </a:spcAft>
                <a:buNone/>
              </a:pPr>
              <a:r>
                <a:rPr b="0" lang="en" sz="1100">
                  <a:solidFill>
                    <a:srgbClr val="4A4A4A"/>
                  </a:solidFill>
                  <a:latin typeface="Inter"/>
                  <a:ea typeface="Inter"/>
                  <a:cs typeface="Inter"/>
                  <a:sym typeface="Inter"/>
                </a:rPr>
                <a:t>Manual dependency creates unnecessary call volume, driving up operating costs while undermining customer experience expectations.</a:t>
              </a:r>
              <a:endParaRPr b="0" sz="1100">
                <a:solidFill>
                  <a:srgbClr val="4A4A4A"/>
                </a:solidFill>
                <a:latin typeface="Inter"/>
                <a:ea typeface="Inter"/>
                <a:cs typeface="Inter"/>
                <a:sym typeface="Inter"/>
              </a:endParaRPr>
            </a:p>
          </p:txBody>
        </p:sp>
      </p:grpSp>
      <p:grpSp>
        <p:nvGrpSpPr>
          <p:cNvPr id="122" name="Google Shape;122;p16"/>
          <p:cNvGrpSpPr/>
          <p:nvPr/>
        </p:nvGrpSpPr>
        <p:grpSpPr>
          <a:xfrm>
            <a:off x="4762500" y="762000"/>
            <a:ext cx="4000500" cy="3810000"/>
            <a:chOff x="4762500" y="762000"/>
            <a:chExt cx="4000500" cy="3810000"/>
          </a:xfrm>
        </p:grpSpPr>
        <p:grpSp>
          <p:nvGrpSpPr>
            <p:cNvPr id="123" name="Google Shape;123;p16"/>
            <p:cNvGrpSpPr/>
            <p:nvPr/>
          </p:nvGrpSpPr>
          <p:grpSpPr>
            <a:xfrm>
              <a:off x="4762500" y="762000"/>
              <a:ext cx="4000500" cy="1143000"/>
              <a:chOff x="0" y="0"/>
              <a:chExt cx="4000500" cy="1143000"/>
            </a:xfrm>
          </p:grpSpPr>
          <p:sp>
            <p:nvSpPr>
              <p:cNvPr id="124" name="Google Shape;124;p16"/>
              <p:cNvSpPr/>
              <p:nvPr/>
            </p:nvSpPr>
            <p:spPr>
              <a:xfrm>
                <a:off x="0" y="0"/>
                <a:ext cx="4000500" cy="1143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6"/>
              <p:cNvSpPr/>
              <p:nvPr/>
            </p:nvSpPr>
            <p:spPr>
              <a:xfrm>
                <a:off x="0" y="0"/>
                <a:ext cx="38100" cy="11430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txBox="1"/>
              <p:nvPr/>
            </p:nvSpPr>
            <p:spPr>
              <a:xfrm>
                <a:off x="228600" y="152400"/>
                <a:ext cx="35433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SemiBold"/>
                    <a:ea typeface="Inter SemiBold"/>
                    <a:cs typeface="Inter SemiBold"/>
                    <a:sym typeface="Inter SemiBold"/>
                  </a:rPr>
                  <a:t>Broken Hand-offs</a:t>
                </a:r>
                <a:endParaRPr b="0" sz="1400">
                  <a:solidFill>
                    <a:srgbClr val="0A0A0A"/>
                  </a:solidFill>
                  <a:latin typeface="Inter SemiBold"/>
                  <a:ea typeface="Inter SemiBold"/>
                  <a:cs typeface="Inter SemiBold"/>
                  <a:sym typeface="Inter SemiBold"/>
                </a:endParaRPr>
              </a:p>
              <a:p>
                <a:pPr indent="0" lvl="0" marL="0" rtl="0" algn="l">
                  <a:spcBef>
                    <a:spcPts val="600"/>
                  </a:spcBef>
                  <a:spcAft>
                    <a:spcPts val="0"/>
                  </a:spcAft>
                  <a:buNone/>
                </a:pPr>
                <a:r>
                  <a:rPr b="0" lang="en" sz="1100">
                    <a:solidFill>
                      <a:srgbClr val="4A4A4A"/>
                    </a:solidFill>
                    <a:latin typeface="Inter"/>
                    <a:ea typeface="Inter"/>
                    <a:cs typeface="Inter"/>
                    <a:sym typeface="Inter"/>
                  </a:rPr>
                  <a:t>Representatives lose </a:t>
                </a:r>
                <a:r>
                  <a:rPr b="1" lang="en" sz="1100">
                    <a:solidFill>
                      <a:srgbClr val="0055FF"/>
                    </a:solidFill>
                    <a:latin typeface="Inter"/>
                    <a:ea typeface="Inter"/>
                    <a:cs typeface="Inter"/>
                    <a:sym typeface="Inter"/>
                  </a:rPr>
                  <a:t>20% of case context</a:t>
                </a:r>
                <a:r>
                  <a:rPr b="0" lang="en" sz="1100">
                    <a:solidFill>
                      <a:srgbClr val="4A4A4A"/>
                    </a:solidFill>
                    <a:latin typeface="Inter"/>
                    <a:ea typeface="Inter"/>
                    <a:cs typeface="Inter"/>
                    <a:sym typeface="Inter"/>
                  </a:rPr>
                  <a:t> across shift changes, forcing frustrated customers to repeat information.</a:t>
                </a:r>
                <a:endParaRPr b="0" sz="1100">
                  <a:solidFill>
                    <a:srgbClr val="4A4A4A"/>
                  </a:solidFill>
                  <a:latin typeface="Inter"/>
                  <a:ea typeface="Inter"/>
                  <a:cs typeface="Inter"/>
                  <a:sym typeface="Inter"/>
                </a:endParaRPr>
              </a:p>
            </p:txBody>
          </p:sp>
        </p:grpSp>
        <p:grpSp>
          <p:nvGrpSpPr>
            <p:cNvPr id="127" name="Google Shape;127;p16"/>
            <p:cNvGrpSpPr/>
            <p:nvPr/>
          </p:nvGrpSpPr>
          <p:grpSpPr>
            <a:xfrm>
              <a:off x="4762500" y="2095500"/>
              <a:ext cx="4000500" cy="1143000"/>
              <a:chOff x="0" y="0"/>
              <a:chExt cx="4000500" cy="1143000"/>
            </a:xfrm>
          </p:grpSpPr>
          <p:sp>
            <p:nvSpPr>
              <p:cNvPr id="128" name="Google Shape;128;p16"/>
              <p:cNvSpPr/>
              <p:nvPr/>
            </p:nvSpPr>
            <p:spPr>
              <a:xfrm>
                <a:off x="0" y="0"/>
                <a:ext cx="4000500" cy="1143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p:nvPr/>
            </p:nvSpPr>
            <p:spPr>
              <a:xfrm>
                <a:off x="0" y="0"/>
                <a:ext cx="38100" cy="11430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228600" y="152400"/>
                <a:ext cx="35433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SemiBold"/>
                    <a:ea typeface="Inter SemiBold"/>
                    <a:cs typeface="Inter SemiBold"/>
                    <a:sym typeface="Inter SemiBold"/>
                  </a:rPr>
                  <a:t>Lack of Observability</a:t>
                </a:r>
                <a:endParaRPr b="0" sz="1400">
                  <a:solidFill>
                    <a:srgbClr val="0A0A0A"/>
                  </a:solidFill>
                  <a:latin typeface="Inter SemiBold"/>
                  <a:ea typeface="Inter SemiBold"/>
                  <a:cs typeface="Inter SemiBold"/>
                  <a:sym typeface="Inter SemiBold"/>
                </a:endParaRPr>
              </a:p>
              <a:p>
                <a:pPr indent="0" lvl="0" marL="0" rtl="0" algn="l">
                  <a:spcBef>
                    <a:spcPts val="600"/>
                  </a:spcBef>
                  <a:spcAft>
                    <a:spcPts val="0"/>
                  </a:spcAft>
                  <a:buNone/>
                </a:pPr>
                <a:r>
                  <a:rPr b="0" lang="en" sz="1100">
                    <a:solidFill>
                      <a:srgbClr val="4A4A4A"/>
                    </a:solidFill>
                    <a:latin typeface="Inter"/>
                    <a:ea typeface="Inter"/>
                    <a:cs typeface="Inter"/>
                    <a:sym typeface="Inter"/>
                  </a:rPr>
                  <a:t>Management cannot track true pipeline status or queue buildup due to a reliance on fragmented shadow spreadsheets.</a:t>
                </a:r>
                <a:endParaRPr b="0" sz="1100">
                  <a:solidFill>
                    <a:srgbClr val="4A4A4A"/>
                  </a:solidFill>
                  <a:latin typeface="Inter"/>
                  <a:ea typeface="Inter"/>
                  <a:cs typeface="Inter"/>
                  <a:sym typeface="Inter"/>
                </a:endParaRPr>
              </a:p>
            </p:txBody>
          </p:sp>
        </p:grpSp>
        <p:grpSp>
          <p:nvGrpSpPr>
            <p:cNvPr id="131" name="Google Shape;131;p16"/>
            <p:cNvGrpSpPr/>
            <p:nvPr/>
          </p:nvGrpSpPr>
          <p:grpSpPr>
            <a:xfrm>
              <a:off x="4762500" y="3429000"/>
              <a:ext cx="4000500" cy="1143000"/>
              <a:chOff x="0" y="0"/>
              <a:chExt cx="4000500" cy="1143000"/>
            </a:xfrm>
          </p:grpSpPr>
          <p:sp>
            <p:nvSpPr>
              <p:cNvPr id="132" name="Google Shape;132;p16"/>
              <p:cNvSpPr/>
              <p:nvPr/>
            </p:nvSpPr>
            <p:spPr>
              <a:xfrm>
                <a:off x="0" y="0"/>
                <a:ext cx="4000500" cy="1143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p:nvPr/>
            </p:nvSpPr>
            <p:spPr>
              <a:xfrm>
                <a:off x="0" y="0"/>
                <a:ext cx="38100" cy="11430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228600" y="152400"/>
                <a:ext cx="3543300" cy="8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055FF"/>
                    </a:solidFill>
                    <a:latin typeface="Inter SemiBold"/>
                    <a:ea typeface="Inter SemiBold"/>
                    <a:cs typeface="Inter SemiBold"/>
                    <a:sym typeface="Inter SemiBold"/>
                  </a:rPr>
                  <a:t>Scaling Limitations</a:t>
                </a:r>
                <a:endParaRPr b="0" sz="1400">
                  <a:solidFill>
                    <a:srgbClr val="0055FF"/>
                  </a:solidFill>
                  <a:latin typeface="Inter SemiBold"/>
                  <a:ea typeface="Inter SemiBold"/>
                  <a:cs typeface="Inter SemiBold"/>
                  <a:sym typeface="Inter SemiBold"/>
                </a:endParaRPr>
              </a:p>
              <a:p>
                <a:pPr indent="0" lvl="0" marL="0" rtl="0" algn="l">
                  <a:spcBef>
                    <a:spcPts val="600"/>
                  </a:spcBef>
                  <a:spcAft>
                    <a:spcPts val="0"/>
                  </a:spcAft>
                  <a:buNone/>
                </a:pPr>
                <a:r>
                  <a:rPr b="0" lang="en" sz="1100">
                    <a:solidFill>
                      <a:srgbClr val="4A4A4A"/>
                    </a:solidFill>
                    <a:latin typeface="Inter"/>
                    <a:ea typeface="Inter"/>
                    <a:cs typeface="Inter"/>
                    <a:sym typeface="Inter"/>
                  </a:rPr>
                  <a:t>Manual phone outreach scales linearly with wage costs, whereas early-stage recovery requires low-friction digital scale.</a:t>
                </a:r>
                <a:endParaRPr b="0" sz="1100">
                  <a:solidFill>
                    <a:srgbClr val="4A4A4A"/>
                  </a:solidFill>
                  <a:latin typeface="Inter"/>
                  <a:ea typeface="Inter"/>
                  <a:cs typeface="Inter"/>
                  <a:sym typeface="Inte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pSp>
        <p:nvGrpSpPr>
          <p:cNvPr id="139" name="Google Shape;139;p17"/>
          <p:cNvGrpSpPr/>
          <p:nvPr/>
        </p:nvGrpSpPr>
        <p:grpSpPr>
          <a:xfrm>
            <a:off x="0" y="0"/>
            <a:ext cx="9144000" cy="5143500"/>
            <a:chOff x="0" y="0"/>
            <a:chExt cx="9144000" cy="5143500"/>
          </a:xfrm>
        </p:grpSpPr>
        <p:sp>
          <p:nvSpPr>
            <p:cNvPr id="140" name="Google Shape;140;p17"/>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7"/>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42" name="Google Shape;142;p17"/>
          <p:cNvGrpSpPr/>
          <p:nvPr/>
        </p:nvGrpSpPr>
        <p:grpSpPr>
          <a:xfrm>
            <a:off x="381000" y="238125"/>
            <a:ext cx="1733700" cy="304950"/>
            <a:chOff x="0" y="0"/>
            <a:chExt cx="1733700" cy="304950"/>
          </a:xfrm>
        </p:grpSpPr>
        <p:sp>
          <p:nvSpPr>
            <p:cNvPr id="143" name="Google Shape;143;p17"/>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7"/>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146" name="Google Shape;146;p17"/>
          <p:cNvSpPr txBox="1"/>
          <p:nvPr/>
        </p:nvSpPr>
        <p:spPr>
          <a:xfrm>
            <a:off x="381000" y="590550"/>
            <a:ext cx="83820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50">
                <a:solidFill>
                  <a:srgbClr val="0A0A0A"/>
                </a:solidFill>
                <a:latin typeface="Inter ExtraBold"/>
                <a:ea typeface="Inter ExtraBold"/>
                <a:cs typeface="Inter ExtraBold"/>
                <a:sym typeface="Inter ExtraBold"/>
              </a:rPr>
              <a:t>The Smart-Recovery Portal Delivers a 2.33-Month Payback in the Base Case Scenario.</a:t>
            </a:r>
            <a:endParaRPr b="0" sz="1550">
              <a:solidFill>
                <a:srgbClr val="0A0A0A"/>
              </a:solidFill>
              <a:latin typeface="Inter ExtraBold"/>
              <a:ea typeface="Inter ExtraBold"/>
              <a:cs typeface="Inter ExtraBold"/>
              <a:sym typeface="Inter ExtraBold"/>
            </a:endParaRPr>
          </a:p>
        </p:txBody>
      </p:sp>
      <p:sp>
        <p:nvSpPr>
          <p:cNvPr id="147" name="Google Shape;147;p17"/>
          <p:cNvSpPr txBox="1"/>
          <p:nvPr/>
        </p:nvSpPr>
        <p:spPr>
          <a:xfrm>
            <a:off x="381000" y="1066800"/>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1000">
                <a:solidFill>
                  <a:srgbClr val="0055FF"/>
                </a:solidFill>
                <a:latin typeface="Inter"/>
                <a:ea typeface="Inter"/>
                <a:cs typeface="Inter"/>
                <a:sym typeface="Inter"/>
              </a:rPr>
              <a:t>12-Month Value Potential by Opportunity</a:t>
            </a:r>
            <a:endParaRPr b="1" sz="1000">
              <a:solidFill>
                <a:srgbClr val="0055FF"/>
              </a:solidFill>
              <a:latin typeface="Inter"/>
              <a:ea typeface="Inter"/>
              <a:cs typeface="Inter"/>
              <a:sym typeface="Inter"/>
            </a:endParaRPr>
          </a:p>
        </p:txBody>
      </p:sp>
      <p:grpSp>
        <p:nvGrpSpPr>
          <p:cNvPr id="148" name="Google Shape;148;p17"/>
          <p:cNvGrpSpPr/>
          <p:nvPr/>
        </p:nvGrpSpPr>
        <p:grpSpPr>
          <a:xfrm>
            <a:off x="381000" y="1257300"/>
            <a:ext cx="8382000" cy="342900"/>
            <a:chOff x="0" y="0"/>
            <a:chExt cx="8382000" cy="342900"/>
          </a:xfrm>
        </p:grpSpPr>
        <p:sp>
          <p:nvSpPr>
            <p:cNvPr id="149" name="Google Shape;149;p17"/>
            <p:cNvSpPr/>
            <p:nvPr/>
          </p:nvSpPr>
          <p:spPr>
            <a:xfrm>
              <a:off x="0" y="0"/>
              <a:ext cx="8382000" cy="342900"/>
            </a:xfrm>
            <a:prstGeom prst="rect">
              <a:avLst/>
            </a:prstGeom>
            <a:solidFill>
              <a:srgbClr val="F4F5F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7"/>
            <p:cNvSpPr/>
            <p:nvPr/>
          </p:nvSpPr>
          <p:spPr>
            <a:xfrm>
              <a:off x="0" y="0"/>
              <a:ext cx="38100" cy="342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7"/>
            <p:cNvSpPr txBox="1"/>
            <p:nvPr/>
          </p:nvSpPr>
          <p:spPr>
            <a:xfrm>
              <a:off x="152400" y="0"/>
              <a:ext cx="3238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Self-Service Balance Lookup</a:t>
              </a:r>
              <a:endParaRPr b="1" sz="1200">
                <a:solidFill>
                  <a:srgbClr val="0A0A0A"/>
                </a:solidFill>
                <a:latin typeface="Inter"/>
                <a:ea typeface="Inter"/>
                <a:cs typeface="Inter"/>
                <a:sym typeface="Inter"/>
              </a:endParaRPr>
            </a:p>
          </p:txBody>
        </p:sp>
        <p:sp>
          <p:nvSpPr>
            <p:cNvPr id="152" name="Google Shape;152;p17"/>
            <p:cNvSpPr txBox="1"/>
            <p:nvPr/>
          </p:nvSpPr>
          <p:spPr>
            <a:xfrm>
              <a:off x="3524250" y="0"/>
              <a:ext cx="2095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4A4A4A"/>
                  </a:solidFill>
                  <a:latin typeface="Inter"/>
                  <a:ea typeface="Inter"/>
                  <a:cs typeface="Inter"/>
                  <a:sym typeface="Inter"/>
                </a:rPr>
                <a:t>Cost: </a:t>
              </a:r>
              <a:r>
                <a:rPr b="0" lang="en" sz="1200">
                  <a:solidFill>
                    <a:srgbClr val="0A0A0A"/>
                  </a:solidFill>
                  <a:latin typeface="Inter SemiBold"/>
                  <a:ea typeface="Inter SemiBold"/>
                  <a:cs typeface="Inter SemiBold"/>
                  <a:sym typeface="Inter SemiBold"/>
                </a:rPr>
                <a:t>£45k</a:t>
              </a:r>
              <a:endParaRPr b="0" sz="1200">
                <a:solidFill>
                  <a:srgbClr val="4A4A4A"/>
                </a:solidFill>
                <a:latin typeface="Inter"/>
                <a:ea typeface="Inter"/>
                <a:cs typeface="Inter"/>
                <a:sym typeface="Inter"/>
              </a:endParaRPr>
            </a:p>
          </p:txBody>
        </p:sp>
        <p:sp>
          <p:nvSpPr>
            <p:cNvPr id="153" name="Google Shape;153;p17"/>
            <p:cNvSpPr txBox="1"/>
            <p:nvPr/>
          </p:nvSpPr>
          <p:spPr>
            <a:xfrm>
              <a:off x="5810250" y="0"/>
              <a:ext cx="23814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200">
                  <a:solidFill>
                    <a:srgbClr val="4A4A4A"/>
                  </a:solidFill>
                  <a:latin typeface="Inter"/>
                  <a:ea typeface="Inter"/>
                  <a:cs typeface="Inter"/>
                  <a:sym typeface="Inter"/>
                </a:rPr>
                <a:t>Value: </a:t>
              </a:r>
              <a:r>
                <a:rPr b="0" lang="en" sz="1300">
                  <a:solidFill>
                    <a:srgbClr val="0055FF"/>
                  </a:solidFill>
                  <a:latin typeface="Inter ExtraBold"/>
                  <a:ea typeface="Inter ExtraBold"/>
                  <a:cs typeface="Inter ExtraBold"/>
                  <a:sym typeface="Inter ExtraBold"/>
                </a:rPr>
                <a:t>£1.34M</a:t>
              </a:r>
              <a:endParaRPr b="0" sz="1200">
                <a:solidFill>
                  <a:srgbClr val="4A4A4A"/>
                </a:solidFill>
                <a:latin typeface="Inter"/>
                <a:ea typeface="Inter"/>
                <a:cs typeface="Inter"/>
                <a:sym typeface="Inter"/>
              </a:endParaRPr>
            </a:p>
          </p:txBody>
        </p:sp>
      </p:grpSp>
      <p:grpSp>
        <p:nvGrpSpPr>
          <p:cNvPr id="154" name="Google Shape;154;p17"/>
          <p:cNvGrpSpPr/>
          <p:nvPr/>
        </p:nvGrpSpPr>
        <p:grpSpPr>
          <a:xfrm>
            <a:off x="381000" y="1647825"/>
            <a:ext cx="8382000" cy="342900"/>
            <a:chOff x="0" y="0"/>
            <a:chExt cx="8382000" cy="342900"/>
          </a:xfrm>
        </p:grpSpPr>
        <p:sp>
          <p:nvSpPr>
            <p:cNvPr id="155" name="Google Shape;155;p17"/>
            <p:cNvSpPr/>
            <p:nvPr/>
          </p:nvSpPr>
          <p:spPr>
            <a:xfrm>
              <a:off x="0" y="0"/>
              <a:ext cx="8382000" cy="342900"/>
            </a:xfrm>
            <a:prstGeom prst="rect">
              <a:avLst/>
            </a:prstGeom>
            <a:solidFill>
              <a:srgbClr val="F4F5F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7"/>
            <p:cNvSpPr/>
            <p:nvPr/>
          </p:nvSpPr>
          <p:spPr>
            <a:xfrm>
              <a:off x="0" y="0"/>
              <a:ext cx="38100" cy="342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7" name="Google Shape;157;p17"/>
            <p:cNvSpPr txBox="1"/>
            <p:nvPr/>
          </p:nvSpPr>
          <p:spPr>
            <a:xfrm>
              <a:off x="152400" y="0"/>
              <a:ext cx="3238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Automated Payment Plans</a:t>
              </a:r>
              <a:endParaRPr b="1" sz="1200">
                <a:solidFill>
                  <a:srgbClr val="0A0A0A"/>
                </a:solidFill>
                <a:latin typeface="Inter"/>
                <a:ea typeface="Inter"/>
                <a:cs typeface="Inter"/>
                <a:sym typeface="Inter"/>
              </a:endParaRPr>
            </a:p>
          </p:txBody>
        </p:sp>
        <p:sp>
          <p:nvSpPr>
            <p:cNvPr id="158" name="Google Shape;158;p17"/>
            <p:cNvSpPr txBox="1"/>
            <p:nvPr/>
          </p:nvSpPr>
          <p:spPr>
            <a:xfrm>
              <a:off x="3524250" y="0"/>
              <a:ext cx="2095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4A4A4A"/>
                  </a:solidFill>
                  <a:latin typeface="Inter"/>
                  <a:ea typeface="Inter"/>
                  <a:cs typeface="Inter"/>
                  <a:sym typeface="Inter"/>
                </a:rPr>
                <a:t>Cost: </a:t>
              </a:r>
              <a:r>
                <a:rPr b="0" lang="en" sz="1200">
                  <a:solidFill>
                    <a:srgbClr val="0A0A0A"/>
                  </a:solidFill>
                  <a:latin typeface="Inter SemiBold"/>
                  <a:ea typeface="Inter SemiBold"/>
                  <a:cs typeface="Inter SemiBold"/>
                  <a:sym typeface="Inter SemiBold"/>
                </a:rPr>
                <a:t>£85k</a:t>
              </a:r>
              <a:endParaRPr b="0" sz="1200">
                <a:solidFill>
                  <a:srgbClr val="4A4A4A"/>
                </a:solidFill>
                <a:latin typeface="Inter"/>
                <a:ea typeface="Inter"/>
                <a:cs typeface="Inter"/>
                <a:sym typeface="Inter"/>
              </a:endParaRPr>
            </a:p>
          </p:txBody>
        </p:sp>
        <p:sp>
          <p:nvSpPr>
            <p:cNvPr id="159" name="Google Shape;159;p17"/>
            <p:cNvSpPr txBox="1"/>
            <p:nvPr/>
          </p:nvSpPr>
          <p:spPr>
            <a:xfrm>
              <a:off x="5810250" y="0"/>
              <a:ext cx="23814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200">
                  <a:solidFill>
                    <a:srgbClr val="4A4A4A"/>
                  </a:solidFill>
                  <a:latin typeface="Inter"/>
                  <a:ea typeface="Inter"/>
                  <a:cs typeface="Inter"/>
                  <a:sym typeface="Inter"/>
                </a:rPr>
                <a:t>Value: </a:t>
              </a:r>
              <a:r>
                <a:rPr b="0" lang="en" sz="1300">
                  <a:solidFill>
                    <a:srgbClr val="0055FF"/>
                  </a:solidFill>
                  <a:latin typeface="Inter ExtraBold"/>
                  <a:ea typeface="Inter ExtraBold"/>
                  <a:cs typeface="Inter ExtraBold"/>
                  <a:sym typeface="Inter ExtraBold"/>
                </a:rPr>
                <a:t>£5.18M</a:t>
              </a:r>
              <a:endParaRPr b="0" sz="1200">
                <a:solidFill>
                  <a:srgbClr val="4A4A4A"/>
                </a:solidFill>
                <a:latin typeface="Inter"/>
                <a:ea typeface="Inter"/>
                <a:cs typeface="Inter"/>
                <a:sym typeface="Inter"/>
              </a:endParaRPr>
            </a:p>
          </p:txBody>
        </p:sp>
      </p:grpSp>
      <p:grpSp>
        <p:nvGrpSpPr>
          <p:cNvPr id="160" name="Google Shape;160;p17"/>
          <p:cNvGrpSpPr/>
          <p:nvPr/>
        </p:nvGrpSpPr>
        <p:grpSpPr>
          <a:xfrm>
            <a:off x="381000" y="2038350"/>
            <a:ext cx="8382000" cy="342900"/>
            <a:chOff x="0" y="0"/>
            <a:chExt cx="8382000" cy="342900"/>
          </a:xfrm>
        </p:grpSpPr>
        <p:sp>
          <p:nvSpPr>
            <p:cNvPr id="161" name="Google Shape;161;p17"/>
            <p:cNvSpPr/>
            <p:nvPr/>
          </p:nvSpPr>
          <p:spPr>
            <a:xfrm>
              <a:off x="0" y="0"/>
              <a:ext cx="8382000" cy="342900"/>
            </a:xfrm>
            <a:prstGeom prst="rect">
              <a:avLst/>
            </a:prstGeom>
            <a:solidFill>
              <a:srgbClr val="F4F5F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p:nvPr/>
          </p:nvSpPr>
          <p:spPr>
            <a:xfrm>
              <a:off x="0" y="0"/>
              <a:ext cx="38100" cy="342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7"/>
            <p:cNvSpPr txBox="1"/>
            <p:nvPr/>
          </p:nvSpPr>
          <p:spPr>
            <a:xfrm>
              <a:off x="152400" y="0"/>
              <a:ext cx="3238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Promise-to-Pay Capture</a:t>
              </a:r>
              <a:endParaRPr b="1" sz="1200">
                <a:solidFill>
                  <a:srgbClr val="0A0A0A"/>
                </a:solidFill>
                <a:latin typeface="Inter"/>
                <a:ea typeface="Inter"/>
                <a:cs typeface="Inter"/>
                <a:sym typeface="Inter"/>
              </a:endParaRPr>
            </a:p>
          </p:txBody>
        </p:sp>
        <p:sp>
          <p:nvSpPr>
            <p:cNvPr id="164" name="Google Shape;164;p17"/>
            <p:cNvSpPr txBox="1"/>
            <p:nvPr/>
          </p:nvSpPr>
          <p:spPr>
            <a:xfrm>
              <a:off x="3524250" y="0"/>
              <a:ext cx="2095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4A4A4A"/>
                  </a:solidFill>
                  <a:latin typeface="Inter"/>
                  <a:ea typeface="Inter"/>
                  <a:cs typeface="Inter"/>
                  <a:sym typeface="Inter"/>
                </a:rPr>
                <a:t>Cost: </a:t>
              </a:r>
              <a:r>
                <a:rPr b="0" lang="en" sz="1200">
                  <a:solidFill>
                    <a:srgbClr val="0A0A0A"/>
                  </a:solidFill>
                  <a:latin typeface="Inter SemiBold"/>
                  <a:ea typeface="Inter SemiBold"/>
                  <a:cs typeface="Inter SemiBold"/>
                  <a:sym typeface="Inter SemiBold"/>
                </a:rPr>
                <a:t>£45k</a:t>
              </a:r>
              <a:endParaRPr b="0" sz="1200">
                <a:solidFill>
                  <a:srgbClr val="4A4A4A"/>
                </a:solidFill>
                <a:latin typeface="Inter"/>
                <a:ea typeface="Inter"/>
                <a:cs typeface="Inter"/>
                <a:sym typeface="Inter"/>
              </a:endParaRPr>
            </a:p>
          </p:txBody>
        </p:sp>
        <p:sp>
          <p:nvSpPr>
            <p:cNvPr id="165" name="Google Shape;165;p17"/>
            <p:cNvSpPr txBox="1"/>
            <p:nvPr/>
          </p:nvSpPr>
          <p:spPr>
            <a:xfrm>
              <a:off x="5810250" y="0"/>
              <a:ext cx="23814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200">
                  <a:solidFill>
                    <a:srgbClr val="4A4A4A"/>
                  </a:solidFill>
                  <a:latin typeface="Inter"/>
                  <a:ea typeface="Inter"/>
                  <a:cs typeface="Inter"/>
                  <a:sym typeface="Inter"/>
                </a:rPr>
                <a:t>Value: </a:t>
              </a:r>
              <a:r>
                <a:rPr b="0" lang="en" sz="1300">
                  <a:solidFill>
                    <a:srgbClr val="0055FF"/>
                  </a:solidFill>
                  <a:latin typeface="Inter ExtraBold"/>
                  <a:ea typeface="Inter ExtraBold"/>
                  <a:cs typeface="Inter ExtraBold"/>
                  <a:sym typeface="Inter ExtraBold"/>
                </a:rPr>
                <a:t>£3.07M</a:t>
              </a:r>
              <a:endParaRPr b="0" sz="1200">
                <a:solidFill>
                  <a:srgbClr val="4A4A4A"/>
                </a:solidFill>
                <a:latin typeface="Inter"/>
                <a:ea typeface="Inter"/>
                <a:cs typeface="Inter"/>
                <a:sym typeface="Inter"/>
              </a:endParaRPr>
            </a:p>
          </p:txBody>
        </p:sp>
      </p:grpSp>
      <p:grpSp>
        <p:nvGrpSpPr>
          <p:cNvPr id="166" name="Google Shape;166;p17"/>
          <p:cNvGrpSpPr/>
          <p:nvPr/>
        </p:nvGrpSpPr>
        <p:grpSpPr>
          <a:xfrm>
            <a:off x="381000" y="2428875"/>
            <a:ext cx="8382000" cy="342900"/>
            <a:chOff x="0" y="0"/>
            <a:chExt cx="8382000" cy="342900"/>
          </a:xfrm>
        </p:grpSpPr>
        <p:sp>
          <p:nvSpPr>
            <p:cNvPr id="167" name="Google Shape;167;p17"/>
            <p:cNvSpPr/>
            <p:nvPr/>
          </p:nvSpPr>
          <p:spPr>
            <a:xfrm>
              <a:off x="0" y="0"/>
              <a:ext cx="8382000" cy="342900"/>
            </a:xfrm>
            <a:prstGeom prst="rect">
              <a:avLst/>
            </a:prstGeom>
            <a:solidFill>
              <a:srgbClr val="F4F5F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p:nvPr/>
          </p:nvSpPr>
          <p:spPr>
            <a:xfrm>
              <a:off x="0" y="0"/>
              <a:ext cx="38100" cy="342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txBox="1"/>
            <p:nvPr/>
          </p:nvSpPr>
          <p:spPr>
            <a:xfrm>
              <a:off x="152400" y="0"/>
              <a:ext cx="3238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Automated Queue Triage</a:t>
              </a:r>
              <a:endParaRPr b="1" sz="1200">
                <a:solidFill>
                  <a:srgbClr val="0A0A0A"/>
                </a:solidFill>
                <a:latin typeface="Inter"/>
                <a:ea typeface="Inter"/>
                <a:cs typeface="Inter"/>
                <a:sym typeface="Inter"/>
              </a:endParaRPr>
            </a:p>
          </p:txBody>
        </p:sp>
        <p:sp>
          <p:nvSpPr>
            <p:cNvPr id="170" name="Google Shape;170;p17"/>
            <p:cNvSpPr txBox="1"/>
            <p:nvPr/>
          </p:nvSpPr>
          <p:spPr>
            <a:xfrm>
              <a:off x="3524250" y="0"/>
              <a:ext cx="2095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4A4A4A"/>
                  </a:solidFill>
                  <a:latin typeface="Inter"/>
                  <a:ea typeface="Inter"/>
                  <a:cs typeface="Inter"/>
                  <a:sym typeface="Inter"/>
                </a:rPr>
                <a:t>Cost: </a:t>
              </a:r>
              <a:r>
                <a:rPr b="0" lang="en" sz="1200">
                  <a:solidFill>
                    <a:srgbClr val="0A0A0A"/>
                  </a:solidFill>
                  <a:latin typeface="Inter SemiBold"/>
                  <a:ea typeface="Inter SemiBold"/>
                  <a:cs typeface="Inter SemiBold"/>
                  <a:sym typeface="Inter SemiBold"/>
                </a:rPr>
                <a:t>£85k</a:t>
              </a:r>
              <a:endParaRPr b="0" sz="1200">
                <a:solidFill>
                  <a:srgbClr val="4A4A4A"/>
                </a:solidFill>
                <a:latin typeface="Inter"/>
                <a:ea typeface="Inter"/>
                <a:cs typeface="Inter"/>
                <a:sym typeface="Inter"/>
              </a:endParaRPr>
            </a:p>
          </p:txBody>
        </p:sp>
        <p:sp>
          <p:nvSpPr>
            <p:cNvPr id="171" name="Google Shape;171;p17"/>
            <p:cNvSpPr txBox="1"/>
            <p:nvPr/>
          </p:nvSpPr>
          <p:spPr>
            <a:xfrm>
              <a:off x="5810250" y="0"/>
              <a:ext cx="23814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1200">
                  <a:solidFill>
                    <a:srgbClr val="4A4A4A"/>
                  </a:solidFill>
                  <a:latin typeface="Inter"/>
                  <a:ea typeface="Inter"/>
                  <a:cs typeface="Inter"/>
                  <a:sym typeface="Inter"/>
                </a:rPr>
                <a:t>Value: </a:t>
              </a:r>
              <a:r>
                <a:rPr b="0" lang="en" sz="1300">
                  <a:solidFill>
                    <a:srgbClr val="0055FF"/>
                  </a:solidFill>
                  <a:latin typeface="Inter ExtraBold"/>
                  <a:ea typeface="Inter ExtraBold"/>
                  <a:cs typeface="Inter ExtraBold"/>
                  <a:sym typeface="Inter ExtraBold"/>
                </a:rPr>
                <a:t>£1.00M</a:t>
              </a:r>
              <a:endParaRPr b="0" sz="1200">
                <a:solidFill>
                  <a:srgbClr val="4A4A4A"/>
                </a:solidFill>
                <a:latin typeface="Inter"/>
                <a:ea typeface="Inter"/>
                <a:cs typeface="Inter"/>
                <a:sym typeface="Inter"/>
              </a:endParaRPr>
            </a:p>
          </p:txBody>
        </p:sp>
      </p:grpSp>
      <p:sp>
        <p:nvSpPr>
          <p:cNvPr id="172" name="Google Shape;172;p17"/>
          <p:cNvSpPr txBox="1"/>
          <p:nvPr/>
        </p:nvSpPr>
        <p:spPr>
          <a:xfrm>
            <a:off x="381000" y="2924175"/>
            <a:ext cx="838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1000">
                <a:solidFill>
                  <a:srgbClr val="0055FF"/>
                </a:solidFill>
                <a:latin typeface="Inter"/>
                <a:ea typeface="Inter"/>
                <a:cs typeface="Inter"/>
                <a:sym typeface="Inter"/>
              </a:rPr>
              <a:t>Scenario Realism</a:t>
            </a:r>
            <a:endParaRPr b="1" sz="1000">
              <a:solidFill>
                <a:srgbClr val="0055FF"/>
              </a:solidFill>
              <a:latin typeface="Inter"/>
              <a:ea typeface="Inter"/>
              <a:cs typeface="Inter"/>
              <a:sym typeface="Inter"/>
            </a:endParaRPr>
          </a:p>
        </p:txBody>
      </p:sp>
      <p:grpSp>
        <p:nvGrpSpPr>
          <p:cNvPr id="173" name="Google Shape;173;p17"/>
          <p:cNvGrpSpPr/>
          <p:nvPr/>
        </p:nvGrpSpPr>
        <p:grpSpPr>
          <a:xfrm>
            <a:off x="381000" y="3114675"/>
            <a:ext cx="4095900" cy="1666800"/>
            <a:chOff x="0" y="0"/>
            <a:chExt cx="4095900" cy="1666800"/>
          </a:xfrm>
        </p:grpSpPr>
        <p:sp>
          <p:nvSpPr>
            <p:cNvPr id="174" name="Google Shape;174;p17"/>
            <p:cNvSpPr/>
            <p:nvPr/>
          </p:nvSpPr>
          <p:spPr>
            <a:xfrm>
              <a:off x="0" y="0"/>
              <a:ext cx="4095900" cy="16668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p:nvPr/>
          </p:nvSpPr>
          <p:spPr>
            <a:xfrm>
              <a:off x="0" y="0"/>
              <a:ext cx="40959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7"/>
            <p:cNvSpPr txBox="1"/>
            <p:nvPr/>
          </p:nvSpPr>
          <p:spPr>
            <a:xfrm>
              <a:off x="190500" y="152400"/>
              <a:ext cx="3714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5FF"/>
                  </a:solidFill>
                  <a:latin typeface="Inter"/>
                  <a:ea typeface="Inter"/>
                  <a:cs typeface="Inter"/>
                  <a:sym typeface="Inter"/>
                </a:rPr>
                <a:t>BASE CASE</a:t>
              </a:r>
              <a:endParaRPr b="1" sz="1000">
                <a:solidFill>
                  <a:srgbClr val="0055FF"/>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SemiBold"/>
                  <a:ea typeface="Inter SemiBold"/>
                  <a:cs typeface="Inter SemiBold"/>
                  <a:sym typeface="Inter SemiBold"/>
                </a:rPr>
                <a:t>100% Target Digital Adoption</a:t>
              </a:r>
              <a:endParaRPr b="0" sz="1100">
                <a:solidFill>
                  <a:srgbClr val="4A4A4A"/>
                </a:solidFill>
                <a:latin typeface="Inter SemiBold"/>
                <a:ea typeface="Inter SemiBold"/>
                <a:cs typeface="Inter SemiBold"/>
                <a:sym typeface="Inter SemiBold"/>
              </a:endParaRPr>
            </a:p>
            <a:p>
              <a:pPr indent="0" lvl="0" marL="0" rtl="0" algn="l">
                <a:spcBef>
                  <a:spcPts val="900"/>
                </a:spcBef>
                <a:spcAft>
                  <a:spcPts val="0"/>
                </a:spcAft>
                <a:buNone/>
              </a:pPr>
              <a:r>
                <a:rPr b="0" lang="en" sz="2800">
                  <a:solidFill>
                    <a:srgbClr val="0055FF"/>
                  </a:solidFill>
                  <a:latin typeface="Inter ExtraBold"/>
                  <a:ea typeface="Inter ExtraBold"/>
                  <a:cs typeface="Inter ExtraBold"/>
                  <a:sym typeface="Inter ExtraBold"/>
                </a:rPr>
                <a:t>£1.34M</a:t>
              </a:r>
              <a:endParaRPr b="0" sz="2800">
                <a:solidFill>
                  <a:srgbClr val="0055FF"/>
                </a:solidFill>
                <a:latin typeface="Inter ExtraBold"/>
                <a:ea typeface="Inter ExtraBold"/>
                <a:cs typeface="Inter ExtraBold"/>
                <a:sym typeface="Inter ExtraBold"/>
              </a:endParaRPr>
            </a:p>
            <a:p>
              <a:pPr indent="0" lvl="0" marL="0" rtl="0" algn="l">
                <a:spcBef>
                  <a:spcPts val="150"/>
                </a:spcBef>
                <a:spcAft>
                  <a:spcPts val="0"/>
                </a:spcAft>
                <a:buNone/>
              </a:pPr>
              <a:r>
                <a:rPr b="0" lang="en" sz="1100">
                  <a:solidFill>
                    <a:srgbClr val="0A0A0A"/>
                  </a:solidFill>
                  <a:latin typeface="Inter SemiBold"/>
                  <a:ea typeface="Inter SemiBold"/>
                  <a:cs typeface="Inter SemiBold"/>
                  <a:sym typeface="Inter SemiBold"/>
                </a:rPr>
                <a:t>Hard Labor Savings</a:t>
              </a:r>
              <a:endParaRPr b="0" sz="1100">
                <a:solidFill>
                  <a:srgbClr val="0A0A0A"/>
                </a:solidFill>
                <a:latin typeface="Inter SemiBold"/>
                <a:ea typeface="Inter SemiBold"/>
                <a:cs typeface="Inter SemiBold"/>
                <a:sym typeface="Inter SemiBold"/>
              </a:endParaRPr>
            </a:p>
            <a:p>
              <a:pPr indent="0" lvl="0" marL="0" rtl="0" algn="l">
                <a:spcBef>
                  <a:spcPts val="750"/>
                </a:spcBef>
                <a:spcAft>
                  <a:spcPts val="0"/>
                </a:spcAft>
                <a:buNone/>
              </a:pPr>
              <a:r>
                <a:rPr b="1" lang="en" sz="1200">
                  <a:solidFill>
                    <a:srgbClr val="0055FF"/>
                  </a:solidFill>
                  <a:latin typeface="Inter"/>
                  <a:ea typeface="Inter"/>
                  <a:cs typeface="Inter"/>
                  <a:sym typeface="Inter"/>
                </a:rPr>
                <a:t>Yielding a 2.33-month payback</a:t>
              </a:r>
              <a:endParaRPr b="1" sz="1200">
                <a:solidFill>
                  <a:srgbClr val="0055FF"/>
                </a:solidFill>
                <a:latin typeface="Inter"/>
                <a:ea typeface="Inter"/>
                <a:cs typeface="Inter"/>
                <a:sym typeface="Inter"/>
              </a:endParaRPr>
            </a:p>
          </p:txBody>
        </p:sp>
      </p:grpSp>
      <p:grpSp>
        <p:nvGrpSpPr>
          <p:cNvPr id="177" name="Google Shape;177;p17"/>
          <p:cNvGrpSpPr/>
          <p:nvPr/>
        </p:nvGrpSpPr>
        <p:grpSpPr>
          <a:xfrm>
            <a:off x="4667250" y="3114675"/>
            <a:ext cx="4095900" cy="1666800"/>
            <a:chOff x="0" y="0"/>
            <a:chExt cx="4095900" cy="1666800"/>
          </a:xfrm>
        </p:grpSpPr>
        <p:sp>
          <p:nvSpPr>
            <p:cNvPr id="178" name="Google Shape;178;p17"/>
            <p:cNvSpPr/>
            <p:nvPr/>
          </p:nvSpPr>
          <p:spPr>
            <a:xfrm>
              <a:off x="0" y="0"/>
              <a:ext cx="4095900" cy="16668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7"/>
            <p:cNvSpPr/>
            <p:nvPr/>
          </p:nvSpPr>
          <p:spPr>
            <a:xfrm>
              <a:off x="0" y="0"/>
              <a:ext cx="40959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17"/>
            <p:cNvSpPr txBox="1"/>
            <p:nvPr/>
          </p:nvSpPr>
          <p:spPr>
            <a:xfrm>
              <a:off x="190500" y="152400"/>
              <a:ext cx="3714900" cy="13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A0A0A"/>
                  </a:solidFill>
                  <a:latin typeface="Inter"/>
                  <a:ea typeface="Inter"/>
                  <a:cs typeface="Inter"/>
                  <a:sym typeface="Inter"/>
                </a:rPr>
                <a:t>RISK-ADJUSTED CASE</a:t>
              </a:r>
              <a:endParaRPr b="1" sz="10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SemiBold"/>
                  <a:ea typeface="Inter SemiBold"/>
                  <a:cs typeface="Inter SemiBold"/>
                  <a:sym typeface="Inter SemiBold"/>
                </a:rPr>
                <a:t>50% Adoption Drag</a:t>
              </a:r>
              <a:endParaRPr b="0" sz="1100">
                <a:solidFill>
                  <a:srgbClr val="4A4A4A"/>
                </a:solidFill>
                <a:latin typeface="Inter SemiBold"/>
                <a:ea typeface="Inter SemiBold"/>
                <a:cs typeface="Inter SemiBold"/>
                <a:sym typeface="Inter SemiBold"/>
              </a:endParaRPr>
            </a:p>
            <a:p>
              <a:pPr indent="0" lvl="0" marL="0" rtl="0" algn="l">
                <a:spcBef>
                  <a:spcPts val="900"/>
                </a:spcBef>
                <a:spcAft>
                  <a:spcPts val="0"/>
                </a:spcAft>
                <a:buNone/>
              </a:pPr>
              <a:r>
                <a:rPr b="0" lang="en" sz="2800">
                  <a:solidFill>
                    <a:srgbClr val="0A0A0A"/>
                  </a:solidFill>
                  <a:latin typeface="Inter ExtraBold"/>
                  <a:ea typeface="Inter ExtraBold"/>
                  <a:cs typeface="Inter ExtraBold"/>
                  <a:sym typeface="Inter ExtraBold"/>
                </a:rPr>
                <a:t>£668.8k</a:t>
              </a:r>
              <a:endParaRPr b="0" sz="2800">
                <a:solidFill>
                  <a:srgbClr val="0A0A0A"/>
                </a:solidFill>
                <a:latin typeface="Inter ExtraBold"/>
                <a:ea typeface="Inter ExtraBold"/>
                <a:cs typeface="Inter ExtraBold"/>
                <a:sym typeface="Inter ExtraBold"/>
              </a:endParaRPr>
            </a:p>
            <a:p>
              <a:pPr indent="0" lvl="0" marL="0" rtl="0" algn="l">
                <a:spcBef>
                  <a:spcPts val="150"/>
                </a:spcBef>
                <a:spcAft>
                  <a:spcPts val="0"/>
                </a:spcAft>
                <a:buNone/>
              </a:pPr>
              <a:r>
                <a:rPr b="0" lang="en" sz="1100">
                  <a:solidFill>
                    <a:srgbClr val="0A0A0A"/>
                  </a:solidFill>
                  <a:latin typeface="Inter SemiBold"/>
                  <a:ea typeface="Inter SemiBold"/>
                  <a:cs typeface="Inter SemiBold"/>
                  <a:sym typeface="Inter SemiBold"/>
                </a:rPr>
                <a:t>Hard Labor Savings</a:t>
              </a:r>
              <a:endParaRPr b="0" sz="1100">
                <a:solidFill>
                  <a:srgbClr val="0A0A0A"/>
                </a:solidFill>
                <a:latin typeface="Inter SemiBold"/>
                <a:ea typeface="Inter SemiBold"/>
                <a:cs typeface="Inter SemiBold"/>
                <a:sym typeface="Inter SemiBold"/>
              </a:endParaRPr>
            </a:p>
            <a:p>
              <a:pPr indent="0" lvl="0" marL="0" rtl="0" algn="l">
                <a:spcBef>
                  <a:spcPts val="750"/>
                </a:spcBef>
                <a:spcAft>
                  <a:spcPts val="0"/>
                </a:spcAft>
                <a:buNone/>
              </a:pPr>
              <a:r>
                <a:rPr b="1" lang="en" sz="1200">
                  <a:solidFill>
                    <a:srgbClr val="0A0A0A"/>
                  </a:solidFill>
                  <a:latin typeface="Inter"/>
                  <a:ea typeface="Inter"/>
                  <a:cs typeface="Inter"/>
                  <a:sym typeface="Inter"/>
                </a:rPr>
                <a:t>Yielding a 4.6-month payback</a:t>
              </a:r>
              <a:endParaRPr b="1" sz="1200">
                <a:solidFill>
                  <a:srgbClr val="0A0A0A"/>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18"/>
          <p:cNvGrpSpPr/>
          <p:nvPr/>
        </p:nvGrpSpPr>
        <p:grpSpPr>
          <a:xfrm>
            <a:off x="0" y="0"/>
            <a:ext cx="9144000" cy="5143500"/>
            <a:chOff x="0" y="0"/>
            <a:chExt cx="9144000" cy="5143500"/>
          </a:xfrm>
        </p:grpSpPr>
        <p:sp>
          <p:nvSpPr>
            <p:cNvPr id="186" name="Google Shape;186;p18"/>
            <p:cNvSpPr/>
            <p:nvPr/>
          </p:nvSpPr>
          <p:spPr>
            <a:xfrm>
              <a:off x="0" y="0"/>
              <a:ext cx="4572000" cy="51435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8"/>
            <p:cNvSpPr/>
            <p:nvPr/>
          </p:nvSpPr>
          <p:spPr>
            <a:xfrm>
              <a:off x="457200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8"/>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89" name="Google Shape;189;p18"/>
          <p:cNvGrpSpPr/>
          <p:nvPr/>
        </p:nvGrpSpPr>
        <p:grpSpPr>
          <a:xfrm>
            <a:off x="381000" y="171450"/>
            <a:ext cx="8382000" cy="628650"/>
            <a:chOff x="381000" y="171450"/>
            <a:chExt cx="8382000" cy="628650"/>
          </a:xfrm>
        </p:grpSpPr>
        <p:grpSp>
          <p:nvGrpSpPr>
            <p:cNvPr id="190" name="Google Shape;190;p18"/>
            <p:cNvGrpSpPr/>
            <p:nvPr/>
          </p:nvGrpSpPr>
          <p:grpSpPr>
            <a:xfrm>
              <a:off x="381000" y="190500"/>
              <a:ext cx="1733700" cy="304950"/>
              <a:chOff x="0" y="0"/>
              <a:chExt cx="1733700" cy="304950"/>
            </a:xfrm>
          </p:grpSpPr>
          <p:sp>
            <p:nvSpPr>
              <p:cNvPr id="191" name="Google Shape;191;p18"/>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8"/>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8"/>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194" name="Google Shape;194;p18"/>
            <p:cNvSpPr txBox="1"/>
            <p:nvPr/>
          </p:nvSpPr>
          <p:spPr>
            <a:xfrm>
              <a:off x="2095500" y="171450"/>
              <a:ext cx="6667500" cy="523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65">
                  <a:solidFill>
                    <a:srgbClr val="0A0A0A"/>
                  </a:solidFill>
                  <a:latin typeface="Inter ExtraBold"/>
                  <a:ea typeface="Inter ExtraBold"/>
                  <a:cs typeface="Inter ExtraBold"/>
                  <a:sym typeface="Inter ExtraBold"/>
                </a:rPr>
                <a:t>Phase 1 Delivers Core Self-Service While Safely Excluding High-Risk Accounts.</a:t>
              </a:r>
              <a:endParaRPr b="0" sz="1665">
                <a:solidFill>
                  <a:srgbClr val="0A0A0A"/>
                </a:solidFill>
                <a:latin typeface="Inter ExtraBold"/>
                <a:ea typeface="Inter ExtraBold"/>
                <a:cs typeface="Inter ExtraBold"/>
                <a:sym typeface="Inter ExtraBold"/>
              </a:endParaRPr>
            </a:p>
          </p:txBody>
        </p:sp>
        <p:cxnSp>
          <p:nvCxnSpPr>
            <p:cNvPr id="195" name="Google Shape;195;p18"/>
            <p:cNvCxnSpPr/>
            <p:nvPr/>
          </p:nvCxnSpPr>
          <p:spPr>
            <a:xfrm>
              <a:off x="381000" y="800100"/>
              <a:ext cx="8382000" cy="0"/>
            </a:xfrm>
            <a:prstGeom prst="straightConnector1">
              <a:avLst/>
            </a:prstGeom>
            <a:solidFill>
              <a:srgbClr val="FFFFFF"/>
            </a:solidFill>
            <a:ln cap="flat" cmpd="sng" w="9525">
              <a:solidFill>
                <a:srgbClr val="E2E8F0"/>
              </a:solidFill>
              <a:prstDash val="solid"/>
              <a:round/>
              <a:headEnd len="sm" w="sm" type="none"/>
              <a:tailEnd len="sm" w="sm" type="none"/>
            </a:ln>
          </p:spPr>
        </p:cxnSp>
      </p:grpSp>
      <p:grpSp>
        <p:nvGrpSpPr>
          <p:cNvPr id="196" name="Google Shape;196;p18"/>
          <p:cNvGrpSpPr/>
          <p:nvPr/>
        </p:nvGrpSpPr>
        <p:grpSpPr>
          <a:xfrm>
            <a:off x="381000" y="971550"/>
            <a:ext cx="3810000" cy="3571800"/>
            <a:chOff x="381000" y="971550"/>
            <a:chExt cx="3810000" cy="3571800"/>
          </a:xfrm>
        </p:grpSpPr>
        <p:sp>
          <p:nvSpPr>
            <p:cNvPr id="197" name="Google Shape;197;p18"/>
            <p:cNvSpPr txBox="1"/>
            <p:nvPr/>
          </p:nvSpPr>
          <p:spPr>
            <a:xfrm>
              <a:off x="381000" y="971550"/>
              <a:ext cx="38100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0055FF"/>
                  </a:solidFill>
                  <a:latin typeface="Inter"/>
                  <a:ea typeface="Inter"/>
                  <a:cs typeface="Inter"/>
                  <a:sym typeface="Inter"/>
                </a:rPr>
                <a:t>Core Inclusions</a:t>
              </a:r>
              <a:endParaRPr b="1" sz="1000">
                <a:solidFill>
                  <a:srgbClr val="0055FF"/>
                </a:solidFill>
                <a:latin typeface="Inter"/>
                <a:ea typeface="Inter"/>
                <a:cs typeface="Inter"/>
                <a:sym typeface="Inter"/>
              </a:endParaRPr>
            </a:p>
            <a:p>
              <a:pPr indent="0" lvl="0" marL="0" rtl="0" algn="l">
                <a:spcBef>
                  <a:spcPts val="300"/>
                </a:spcBef>
                <a:spcAft>
                  <a:spcPts val="0"/>
                </a:spcAft>
                <a:buNone/>
              </a:pPr>
              <a:r>
                <a:rPr b="1" lang="en" sz="1500">
                  <a:solidFill>
                    <a:srgbClr val="0A0A0A"/>
                  </a:solidFill>
                  <a:latin typeface="Inter"/>
                  <a:ea typeface="Inter"/>
                  <a:cs typeface="Inter"/>
                  <a:sym typeface="Inter"/>
                </a:rPr>
                <a:t>Right-Sized First Release</a:t>
              </a:r>
              <a:endParaRPr b="1" sz="1500">
                <a:solidFill>
                  <a:srgbClr val="0A0A0A"/>
                </a:solidFill>
                <a:latin typeface="Inter"/>
                <a:ea typeface="Inter"/>
                <a:cs typeface="Inter"/>
                <a:sym typeface="Inter"/>
              </a:endParaRPr>
            </a:p>
          </p:txBody>
        </p:sp>
        <p:grpSp>
          <p:nvGrpSpPr>
            <p:cNvPr id="198" name="Google Shape;198;p18"/>
            <p:cNvGrpSpPr/>
            <p:nvPr/>
          </p:nvGrpSpPr>
          <p:grpSpPr>
            <a:xfrm>
              <a:off x="381000" y="1543050"/>
              <a:ext cx="3810000" cy="619200"/>
              <a:chOff x="381000" y="1543050"/>
              <a:chExt cx="3810000" cy="619200"/>
            </a:xfrm>
          </p:grpSpPr>
          <p:grpSp>
            <p:nvGrpSpPr>
              <p:cNvPr id="199" name="Google Shape;199;p18"/>
              <p:cNvGrpSpPr/>
              <p:nvPr/>
            </p:nvGrpSpPr>
            <p:grpSpPr>
              <a:xfrm>
                <a:off x="381000" y="1562100"/>
                <a:ext cx="228600" cy="228600"/>
                <a:chOff x="0" y="0"/>
                <a:chExt cx="228600" cy="228600"/>
              </a:xfrm>
            </p:grpSpPr>
            <p:sp>
              <p:nvSpPr>
                <p:cNvPr id="200" name="Google Shape;200;p18"/>
                <p:cNvSpPr/>
                <p:nvPr/>
              </p:nvSpPr>
              <p:spPr>
                <a:xfrm>
                  <a:off x="0" y="0"/>
                  <a:ext cx="228600" cy="228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8"/>
                <p:cNvSpPr/>
                <p:nvPr/>
              </p:nvSpPr>
              <p:spPr>
                <a:xfrm>
                  <a:off x="57150" y="76200"/>
                  <a:ext cx="114300" cy="76200"/>
                </a:xfrm>
                <a:custGeom>
                  <a:rect b="b" l="l" r="r" t="t"/>
                  <a:pathLst>
                    <a:path extrusionOk="0" h="120000" w="120000">
                      <a:moveTo>
                        <a:pt x="0" y="60000"/>
                      </a:moveTo>
                      <a:lnTo>
                        <a:pt x="40000" y="120000"/>
                      </a:lnTo>
                      <a:lnTo>
                        <a:pt x="120000" y="0"/>
                      </a:lnTo>
                    </a:path>
                  </a:pathLst>
                </a:custGeom>
                <a:solidFill>
                  <a:srgbClr val="000000">
                    <a:alpha val="0"/>
                  </a:srgbClr>
                </a:solidFill>
                <a:ln cap="sq" cmpd="sng" w="28575">
                  <a:solidFill>
                    <a:srgbClr val="0055FF"/>
                  </a:solidFill>
                  <a:prstDash val="solid"/>
                  <a:miter lim="8000"/>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2" name="Google Shape;202;p18"/>
              <p:cNvSpPr txBox="1"/>
              <p:nvPr/>
            </p:nvSpPr>
            <p:spPr>
              <a:xfrm>
                <a:off x="723900" y="1543050"/>
                <a:ext cx="34671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A0A0A"/>
                    </a:solidFill>
                    <a:latin typeface="Inter"/>
                    <a:ea typeface="Inter"/>
                    <a:cs typeface="Inter"/>
                    <a:sym typeface="Inter"/>
                  </a:rPr>
                  <a:t>Authentication</a:t>
                </a:r>
                <a:endParaRPr b="1" sz="13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2FA DOB + SMS/Email OTP with a 3-attempt lockout.</a:t>
                </a:r>
                <a:endParaRPr b="0" sz="1100">
                  <a:solidFill>
                    <a:srgbClr val="4A4A4A"/>
                  </a:solidFill>
                  <a:latin typeface="Inter"/>
                  <a:ea typeface="Inter"/>
                  <a:cs typeface="Inter"/>
                  <a:sym typeface="Inter"/>
                </a:endParaRPr>
              </a:p>
            </p:txBody>
          </p:sp>
        </p:grpSp>
        <p:grpSp>
          <p:nvGrpSpPr>
            <p:cNvPr id="203" name="Google Shape;203;p18"/>
            <p:cNvGrpSpPr/>
            <p:nvPr/>
          </p:nvGrpSpPr>
          <p:grpSpPr>
            <a:xfrm>
              <a:off x="381000" y="2305050"/>
              <a:ext cx="3810000" cy="619200"/>
              <a:chOff x="381000" y="2305050"/>
              <a:chExt cx="3810000" cy="619200"/>
            </a:xfrm>
          </p:grpSpPr>
          <p:grpSp>
            <p:nvGrpSpPr>
              <p:cNvPr id="204" name="Google Shape;204;p18"/>
              <p:cNvGrpSpPr/>
              <p:nvPr/>
            </p:nvGrpSpPr>
            <p:grpSpPr>
              <a:xfrm>
                <a:off x="381000" y="2324100"/>
                <a:ext cx="228600" cy="228600"/>
                <a:chOff x="0" y="0"/>
                <a:chExt cx="228600" cy="228600"/>
              </a:xfrm>
            </p:grpSpPr>
            <p:sp>
              <p:nvSpPr>
                <p:cNvPr id="205" name="Google Shape;205;p18"/>
                <p:cNvSpPr/>
                <p:nvPr/>
              </p:nvSpPr>
              <p:spPr>
                <a:xfrm>
                  <a:off x="0" y="0"/>
                  <a:ext cx="228600" cy="228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8"/>
                <p:cNvSpPr/>
                <p:nvPr/>
              </p:nvSpPr>
              <p:spPr>
                <a:xfrm>
                  <a:off x="57150" y="76200"/>
                  <a:ext cx="114300" cy="76200"/>
                </a:xfrm>
                <a:custGeom>
                  <a:rect b="b" l="l" r="r" t="t"/>
                  <a:pathLst>
                    <a:path extrusionOk="0" h="120000" w="120000">
                      <a:moveTo>
                        <a:pt x="0" y="60000"/>
                      </a:moveTo>
                      <a:lnTo>
                        <a:pt x="40000" y="120000"/>
                      </a:lnTo>
                      <a:lnTo>
                        <a:pt x="120000" y="0"/>
                      </a:lnTo>
                    </a:path>
                  </a:pathLst>
                </a:custGeom>
                <a:solidFill>
                  <a:srgbClr val="000000">
                    <a:alpha val="0"/>
                  </a:srgbClr>
                </a:solidFill>
                <a:ln cap="sq" cmpd="sng" w="28575">
                  <a:solidFill>
                    <a:srgbClr val="0055FF"/>
                  </a:solidFill>
                  <a:prstDash val="solid"/>
                  <a:miter lim="8000"/>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7" name="Google Shape;207;p18"/>
              <p:cNvSpPr txBox="1"/>
              <p:nvPr/>
            </p:nvSpPr>
            <p:spPr>
              <a:xfrm>
                <a:off x="723900" y="2305050"/>
                <a:ext cx="34671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A0A0A"/>
                    </a:solidFill>
                    <a:latin typeface="Inter"/>
                    <a:ea typeface="Inter"/>
                    <a:cs typeface="Inter"/>
                    <a:sym typeface="Inter"/>
                  </a:rPr>
                  <a:t>Balance Visibility</a:t>
                </a:r>
                <a:endParaRPr b="1" sz="13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Real-time account summary via legacy DB read API.</a:t>
                </a:r>
                <a:endParaRPr b="0" sz="1100">
                  <a:solidFill>
                    <a:srgbClr val="4A4A4A"/>
                  </a:solidFill>
                  <a:latin typeface="Inter"/>
                  <a:ea typeface="Inter"/>
                  <a:cs typeface="Inter"/>
                  <a:sym typeface="Inter"/>
                </a:endParaRPr>
              </a:p>
            </p:txBody>
          </p:sp>
        </p:grpSp>
        <p:grpSp>
          <p:nvGrpSpPr>
            <p:cNvPr id="208" name="Google Shape;208;p18"/>
            <p:cNvGrpSpPr/>
            <p:nvPr/>
          </p:nvGrpSpPr>
          <p:grpSpPr>
            <a:xfrm>
              <a:off x="381000" y="3067050"/>
              <a:ext cx="3810000" cy="619200"/>
              <a:chOff x="381000" y="3067050"/>
              <a:chExt cx="3810000" cy="619200"/>
            </a:xfrm>
          </p:grpSpPr>
          <p:grpSp>
            <p:nvGrpSpPr>
              <p:cNvPr id="209" name="Google Shape;209;p18"/>
              <p:cNvGrpSpPr/>
              <p:nvPr/>
            </p:nvGrpSpPr>
            <p:grpSpPr>
              <a:xfrm>
                <a:off x="381000" y="3086100"/>
                <a:ext cx="228600" cy="228600"/>
                <a:chOff x="0" y="0"/>
                <a:chExt cx="228600" cy="228600"/>
              </a:xfrm>
            </p:grpSpPr>
            <p:sp>
              <p:nvSpPr>
                <p:cNvPr id="210" name="Google Shape;210;p18"/>
                <p:cNvSpPr/>
                <p:nvPr/>
              </p:nvSpPr>
              <p:spPr>
                <a:xfrm>
                  <a:off x="0" y="0"/>
                  <a:ext cx="228600" cy="228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8"/>
                <p:cNvSpPr/>
                <p:nvPr/>
              </p:nvSpPr>
              <p:spPr>
                <a:xfrm>
                  <a:off x="57150" y="76200"/>
                  <a:ext cx="114300" cy="76200"/>
                </a:xfrm>
                <a:custGeom>
                  <a:rect b="b" l="l" r="r" t="t"/>
                  <a:pathLst>
                    <a:path extrusionOk="0" h="120000" w="120000">
                      <a:moveTo>
                        <a:pt x="0" y="60000"/>
                      </a:moveTo>
                      <a:lnTo>
                        <a:pt x="40000" y="120000"/>
                      </a:lnTo>
                      <a:lnTo>
                        <a:pt x="120000" y="0"/>
                      </a:lnTo>
                    </a:path>
                  </a:pathLst>
                </a:custGeom>
                <a:solidFill>
                  <a:srgbClr val="000000">
                    <a:alpha val="0"/>
                  </a:srgbClr>
                </a:solidFill>
                <a:ln cap="sq" cmpd="sng" w="28575">
                  <a:solidFill>
                    <a:srgbClr val="0055FF"/>
                  </a:solidFill>
                  <a:prstDash val="solid"/>
                  <a:miter lim="8000"/>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2" name="Google Shape;212;p18"/>
              <p:cNvSpPr txBox="1"/>
              <p:nvPr/>
            </p:nvSpPr>
            <p:spPr>
              <a:xfrm>
                <a:off x="723900" y="3067050"/>
                <a:ext cx="34671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A0A0A"/>
                    </a:solidFill>
                    <a:latin typeface="Inter"/>
                    <a:ea typeface="Inter"/>
                    <a:cs typeface="Inter"/>
                    <a:sym typeface="Inter"/>
                  </a:rPr>
                  <a:t>Self-Service Execution</a:t>
                </a:r>
                <a:endParaRPr b="1" sz="13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Pre-approved 3–6 month plans &amp; single-click promise capture.</a:t>
                </a:r>
                <a:endParaRPr b="0" sz="1100">
                  <a:solidFill>
                    <a:srgbClr val="4A4A4A"/>
                  </a:solidFill>
                  <a:latin typeface="Inter"/>
                  <a:ea typeface="Inter"/>
                  <a:cs typeface="Inter"/>
                  <a:sym typeface="Inter"/>
                </a:endParaRPr>
              </a:p>
            </p:txBody>
          </p:sp>
        </p:grpSp>
        <p:grpSp>
          <p:nvGrpSpPr>
            <p:cNvPr id="213" name="Google Shape;213;p18"/>
            <p:cNvGrpSpPr/>
            <p:nvPr/>
          </p:nvGrpSpPr>
          <p:grpSpPr>
            <a:xfrm>
              <a:off x="381000" y="3829050"/>
              <a:ext cx="3810000" cy="714300"/>
              <a:chOff x="381000" y="3829050"/>
              <a:chExt cx="3810000" cy="714300"/>
            </a:xfrm>
          </p:grpSpPr>
          <p:grpSp>
            <p:nvGrpSpPr>
              <p:cNvPr id="214" name="Google Shape;214;p18"/>
              <p:cNvGrpSpPr/>
              <p:nvPr/>
            </p:nvGrpSpPr>
            <p:grpSpPr>
              <a:xfrm>
                <a:off x="381000" y="3848100"/>
                <a:ext cx="228600" cy="228600"/>
                <a:chOff x="0" y="0"/>
                <a:chExt cx="228600" cy="228600"/>
              </a:xfrm>
            </p:grpSpPr>
            <p:sp>
              <p:nvSpPr>
                <p:cNvPr id="215" name="Google Shape;215;p18"/>
                <p:cNvSpPr/>
                <p:nvPr/>
              </p:nvSpPr>
              <p:spPr>
                <a:xfrm>
                  <a:off x="0" y="0"/>
                  <a:ext cx="228600" cy="228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8"/>
                <p:cNvSpPr/>
                <p:nvPr/>
              </p:nvSpPr>
              <p:spPr>
                <a:xfrm>
                  <a:off x="57150" y="76200"/>
                  <a:ext cx="114300" cy="76200"/>
                </a:xfrm>
                <a:custGeom>
                  <a:rect b="b" l="l" r="r" t="t"/>
                  <a:pathLst>
                    <a:path extrusionOk="0" h="120000" w="120000">
                      <a:moveTo>
                        <a:pt x="0" y="60000"/>
                      </a:moveTo>
                      <a:lnTo>
                        <a:pt x="40000" y="120000"/>
                      </a:lnTo>
                      <a:lnTo>
                        <a:pt x="120000" y="0"/>
                      </a:lnTo>
                    </a:path>
                  </a:pathLst>
                </a:custGeom>
                <a:solidFill>
                  <a:srgbClr val="000000">
                    <a:alpha val="0"/>
                  </a:srgbClr>
                </a:solidFill>
                <a:ln cap="sq" cmpd="sng" w="28575">
                  <a:solidFill>
                    <a:srgbClr val="0055FF"/>
                  </a:solidFill>
                  <a:prstDash val="solid"/>
                  <a:miter lim="8000"/>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7" name="Google Shape;217;p18"/>
              <p:cNvSpPr txBox="1"/>
              <p:nvPr/>
            </p:nvSpPr>
            <p:spPr>
              <a:xfrm>
                <a:off x="723900" y="3829050"/>
                <a:ext cx="34671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A0A0A"/>
                    </a:solidFill>
                    <a:latin typeface="Inter"/>
                    <a:ea typeface="Inter"/>
                    <a:cs typeface="Inter"/>
                    <a:sym typeface="Inter"/>
                  </a:rPr>
                  <a:t>Smart Triage</a:t>
                </a:r>
                <a:endParaRPr b="1" sz="1300">
                  <a:solidFill>
                    <a:srgbClr val="0A0A0A"/>
                  </a:solidFill>
                  <a:latin typeface="Inter"/>
                  <a:ea typeface="Inter"/>
                  <a:cs typeface="Inter"/>
                  <a:sym typeface="Inter"/>
                </a:endParaRPr>
              </a:p>
              <a:p>
                <a:pPr indent="0" lvl="0" marL="0" rtl="0" algn="l">
                  <a:spcBef>
                    <a:spcPts val="150"/>
                  </a:spcBef>
                  <a:spcAft>
                    <a:spcPts val="0"/>
                  </a:spcAft>
                  <a:buNone/>
                </a:pPr>
                <a:r>
                  <a:rPr b="0" lang="en" sz="1100">
                    <a:solidFill>
                      <a:srgbClr val="4A4A4A"/>
                    </a:solidFill>
                    <a:latin typeface="Inter"/>
                    <a:ea typeface="Inter"/>
                    <a:cs typeface="Inter"/>
                    <a:sym typeface="Inter"/>
                  </a:rPr>
                  <a:t>API microservice diverting 38% volume with context payload attachments.</a:t>
                </a:r>
                <a:endParaRPr b="0" sz="1100">
                  <a:solidFill>
                    <a:srgbClr val="4A4A4A"/>
                  </a:solidFill>
                  <a:latin typeface="Inter"/>
                  <a:ea typeface="Inter"/>
                  <a:cs typeface="Inter"/>
                  <a:sym typeface="Inter"/>
                </a:endParaRPr>
              </a:p>
            </p:txBody>
          </p:sp>
        </p:grpSp>
      </p:grpSp>
      <p:grpSp>
        <p:nvGrpSpPr>
          <p:cNvPr id="218" name="Google Shape;218;p18"/>
          <p:cNvGrpSpPr/>
          <p:nvPr/>
        </p:nvGrpSpPr>
        <p:grpSpPr>
          <a:xfrm>
            <a:off x="4953000" y="971550"/>
            <a:ext cx="3810000" cy="3410100"/>
            <a:chOff x="4953000" y="971550"/>
            <a:chExt cx="3810000" cy="3410100"/>
          </a:xfrm>
        </p:grpSpPr>
        <p:sp>
          <p:nvSpPr>
            <p:cNvPr id="219" name="Google Shape;219;p18"/>
            <p:cNvSpPr txBox="1"/>
            <p:nvPr/>
          </p:nvSpPr>
          <p:spPr>
            <a:xfrm>
              <a:off x="4953000" y="971550"/>
              <a:ext cx="38100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9230F"/>
                  </a:solidFill>
                  <a:latin typeface="Inter"/>
                  <a:ea typeface="Inter"/>
                  <a:cs typeface="Inter"/>
                  <a:sym typeface="Inter"/>
                </a:rPr>
                <a:t>Explicit Exclusions &amp; Justifications</a:t>
              </a:r>
              <a:endParaRPr b="1" sz="1000">
                <a:solidFill>
                  <a:srgbClr val="D9230F"/>
                </a:solidFill>
                <a:latin typeface="Inter"/>
                <a:ea typeface="Inter"/>
                <a:cs typeface="Inter"/>
                <a:sym typeface="Inter"/>
              </a:endParaRPr>
            </a:p>
            <a:p>
              <a:pPr indent="0" lvl="0" marL="0" rtl="0" algn="l">
                <a:spcBef>
                  <a:spcPts val="300"/>
                </a:spcBef>
                <a:spcAft>
                  <a:spcPts val="0"/>
                </a:spcAft>
                <a:buNone/>
              </a:pPr>
              <a:r>
                <a:rPr b="1" lang="en" sz="1500">
                  <a:solidFill>
                    <a:srgbClr val="0A0A0A"/>
                  </a:solidFill>
                  <a:latin typeface="Inter"/>
                  <a:ea typeface="Inter"/>
                  <a:cs typeface="Inter"/>
                  <a:sym typeface="Inter"/>
                </a:rPr>
                <a:t>Risk-Managed Scope Boundaries</a:t>
              </a:r>
              <a:endParaRPr b="1" sz="1500">
                <a:solidFill>
                  <a:srgbClr val="0A0A0A"/>
                </a:solidFill>
                <a:latin typeface="Inter"/>
                <a:ea typeface="Inter"/>
                <a:cs typeface="Inter"/>
                <a:sym typeface="Inter"/>
              </a:endParaRPr>
            </a:p>
          </p:txBody>
        </p:sp>
        <p:grpSp>
          <p:nvGrpSpPr>
            <p:cNvPr id="220" name="Google Shape;220;p18"/>
            <p:cNvGrpSpPr/>
            <p:nvPr/>
          </p:nvGrpSpPr>
          <p:grpSpPr>
            <a:xfrm>
              <a:off x="4953000" y="1543050"/>
              <a:ext cx="3810000" cy="1428900"/>
              <a:chOff x="4953000" y="1543050"/>
              <a:chExt cx="3810000" cy="1428900"/>
            </a:xfrm>
          </p:grpSpPr>
          <p:sp>
            <p:nvSpPr>
              <p:cNvPr id="221" name="Google Shape;221;p18"/>
              <p:cNvSpPr/>
              <p:nvPr/>
            </p:nvSpPr>
            <p:spPr>
              <a:xfrm>
                <a:off x="4953000" y="1543050"/>
                <a:ext cx="3810000" cy="14289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8"/>
              <p:cNvSpPr/>
              <p:nvPr/>
            </p:nvSpPr>
            <p:spPr>
              <a:xfrm>
                <a:off x="4953000" y="1543050"/>
                <a:ext cx="38100" cy="14289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3" name="Google Shape;223;p18"/>
              <p:cNvGrpSpPr/>
              <p:nvPr/>
            </p:nvGrpSpPr>
            <p:grpSpPr>
              <a:xfrm>
                <a:off x="5143500" y="1695450"/>
                <a:ext cx="228600" cy="228600"/>
                <a:chOff x="0" y="0"/>
                <a:chExt cx="228600" cy="228600"/>
              </a:xfrm>
            </p:grpSpPr>
            <p:sp>
              <p:nvSpPr>
                <p:cNvPr id="224" name="Google Shape;224;p18"/>
                <p:cNvSpPr/>
                <p:nvPr/>
              </p:nvSpPr>
              <p:spPr>
                <a:xfrm>
                  <a:off x="0" y="0"/>
                  <a:ext cx="228600" cy="2286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p:nvPr/>
              </p:nvSpPr>
              <p:spPr>
                <a:xfrm>
                  <a:off x="100013" y="47625"/>
                  <a:ext cx="28500" cy="85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8"/>
                <p:cNvSpPr/>
                <p:nvPr/>
              </p:nvSpPr>
              <p:spPr>
                <a:xfrm>
                  <a:off x="100013" y="152400"/>
                  <a:ext cx="28500" cy="28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7" name="Google Shape;227;p18"/>
              <p:cNvSpPr txBox="1"/>
              <p:nvPr/>
            </p:nvSpPr>
            <p:spPr>
              <a:xfrm>
                <a:off x="5467350" y="1676400"/>
                <a:ext cx="31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50"/>
                  </a:spcAft>
                  <a:buNone/>
                </a:pPr>
                <a:r>
                  <a:rPr b="1" lang="en" sz="1105">
                    <a:solidFill>
                      <a:srgbClr val="0A0A0A"/>
                    </a:solidFill>
                    <a:latin typeface="Inter"/>
                    <a:ea typeface="Inter"/>
                    <a:cs typeface="Inter"/>
                    <a:sym typeface="Inter"/>
                  </a:rPr>
                  <a:t>Hardship, Vulnerability, &amp; Disputed Balances</a:t>
                </a:r>
                <a:endParaRPr b="1" sz="1105">
                  <a:solidFill>
                    <a:srgbClr val="0A0A0A"/>
                  </a:solidFill>
                  <a:latin typeface="Inter"/>
                  <a:ea typeface="Inter"/>
                  <a:cs typeface="Inter"/>
                  <a:sym typeface="Inter"/>
                </a:endParaRPr>
              </a:p>
            </p:txBody>
          </p:sp>
          <p:sp>
            <p:nvSpPr>
              <p:cNvPr id="228" name="Google Shape;228;p18"/>
              <p:cNvSpPr txBox="1"/>
              <p:nvPr/>
            </p:nvSpPr>
            <p:spPr>
              <a:xfrm>
                <a:off x="5143500" y="2038350"/>
                <a:ext cx="34671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A4A4A"/>
                    </a:solidFill>
                    <a:latin typeface="Inter"/>
                    <a:ea typeface="Inter"/>
                    <a:cs typeface="Inter"/>
                    <a:sym typeface="Inter"/>
                  </a:rPr>
                  <a:t>Excluded and kept 100% human-led to eliminate FCA regulatory compliance risk and manage complex negotiations.</a:t>
                </a:r>
                <a:endParaRPr b="0" sz="1100">
                  <a:solidFill>
                    <a:srgbClr val="4A4A4A"/>
                  </a:solidFill>
                  <a:latin typeface="Inter"/>
                  <a:ea typeface="Inter"/>
                  <a:cs typeface="Inter"/>
                  <a:sym typeface="Inter"/>
                </a:endParaRPr>
              </a:p>
            </p:txBody>
          </p:sp>
        </p:grpSp>
        <p:grpSp>
          <p:nvGrpSpPr>
            <p:cNvPr id="229" name="Google Shape;229;p18"/>
            <p:cNvGrpSpPr/>
            <p:nvPr/>
          </p:nvGrpSpPr>
          <p:grpSpPr>
            <a:xfrm>
              <a:off x="4953000" y="3143250"/>
              <a:ext cx="3810000" cy="1238400"/>
              <a:chOff x="4953000" y="3143250"/>
              <a:chExt cx="3810000" cy="1238400"/>
            </a:xfrm>
          </p:grpSpPr>
          <p:sp>
            <p:nvSpPr>
              <p:cNvPr id="230" name="Google Shape;230;p18"/>
              <p:cNvSpPr/>
              <p:nvPr/>
            </p:nvSpPr>
            <p:spPr>
              <a:xfrm>
                <a:off x="4953000" y="3143250"/>
                <a:ext cx="3810000" cy="12384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8"/>
              <p:cNvSpPr/>
              <p:nvPr/>
            </p:nvSpPr>
            <p:spPr>
              <a:xfrm>
                <a:off x="4953000" y="3143250"/>
                <a:ext cx="38100" cy="12384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2" name="Google Shape;232;p18"/>
              <p:cNvGrpSpPr/>
              <p:nvPr/>
            </p:nvGrpSpPr>
            <p:grpSpPr>
              <a:xfrm>
                <a:off x="5143500" y="3295650"/>
                <a:ext cx="228600" cy="228600"/>
                <a:chOff x="0" y="0"/>
                <a:chExt cx="228600" cy="228600"/>
              </a:xfrm>
            </p:grpSpPr>
            <p:sp>
              <p:nvSpPr>
                <p:cNvPr id="233" name="Google Shape;233;p18"/>
                <p:cNvSpPr/>
                <p:nvPr/>
              </p:nvSpPr>
              <p:spPr>
                <a:xfrm>
                  <a:off x="0" y="0"/>
                  <a:ext cx="228600" cy="2286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8"/>
                <p:cNvSpPr/>
                <p:nvPr/>
              </p:nvSpPr>
              <p:spPr>
                <a:xfrm>
                  <a:off x="100013" y="47625"/>
                  <a:ext cx="28500" cy="858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8"/>
                <p:cNvSpPr/>
                <p:nvPr/>
              </p:nvSpPr>
              <p:spPr>
                <a:xfrm>
                  <a:off x="100013" y="152400"/>
                  <a:ext cx="28500" cy="28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36" name="Google Shape;236;p18"/>
              <p:cNvSpPr txBox="1"/>
              <p:nvPr/>
            </p:nvSpPr>
            <p:spPr>
              <a:xfrm>
                <a:off x="5467350" y="3276600"/>
                <a:ext cx="31434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150"/>
                  </a:spcAft>
                  <a:buNone/>
                </a:pPr>
                <a:r>
                  <a:rPr b="1" lang="en" sz="1300">
                    <a:solidFill>
                      <a:srgbClr val="0A0A0A"/>
                    </a:solidFill>
                    <a:latin typeface="Inter"/>
                    <a:ea typeface="Inter"/>
                    <a:cs typeface="Inter"/>
                    <a:sym typeface="Inter"/>
                  </a:rPr>
                  <a:t>Shift Handoff Logging</a:t>
                </a:r>
                <a:endParaRPr b="1" sz="1300">
                  <a:solidFill>
                    <a:srgbClr val="0A0A0A"/>
                  </a:solidFill>
                  <a:latin typeface="Inter"/>
                  <a:ea typeface="Inter"/>
                  <a:cs typeface="Inter"/>
                  <a:sym typeface="Inter"/>
                </a:endParaRPr>
              </a:p>
            </p:txBody>
          </p:sp>
          <p:sp>
            <p:nvSpPr>
              <p:cNvPr id="237" name="Google Shape;237;p18"/>
              <p:cNvSpPr txBox="1"/>
              <p:nvPr/>
            </p:nvSpPr>
            <p:spPr>
              <a:xfrm>
                <a:off x="5143500" y="3638550"/>
                <a:ext cx="34671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4A4A4A"/>
                    </a:solidFill>
                    <a:latin typeface="Inter"/>
                    <a:ea typeface="Inter"/>
                    <a:cs typeface="Inter"/>
                    <a:sym typeface="Inter"/>
                  </a:rPr>
                  <a:t>Deferred to Phase 2 to prevent over-engineering.</a:t>
                </a:r>
                <a:endParaRPr b="0" sz="1100">
                  <a:solidFill>
                    <a:srgbClr val="4A4A4A"/>
                  </a:solidFill>
                  <a:latin typeface="Inter"/>
                  <a:ea typeface="Inter"/>
                  <a:cs typeface="Inter"/>
                  <a:sym typeface="Inte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9"/>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3" name="Google Shape;243;p19"/>
          <p:cNvGrpSpPr/>
          <p:nvPr/>
        </p:nvGrpSpPr>
        <p:grpSpPr>
          <a:xfrm>
            <a:off x="381000" y="304800"/>
            <a:ext cx="1733700" cy="304950"/>
            <a:chOff x="0" y="0"/>
            <a:chExt cx="1733700" cy="304950"/>
          </a:xfrm>
        </p:grpSpPr>
        <p:sp>
          <p:nvSpPr>
            <p:cNvPr id="244" name="Google Shape;244;p19"/>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9"/>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19"/>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247" name="Google Shape;247;p19"/>
          <p:cNvSpPr txBox="1"/>
          <p:nvPr/>
        </p:nvSpPr>
        <p:spPr>
          <a:xfrm>
            <a:off x="2286000" y="228600"/>
            <a:ext cx="6477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700">
                <a:solidFill>
                  <a:srgbClr val="0A0A0A"/>
                </a:solidFill>
                <a:latin typeface="Inter ExtraBold"/>
                <a:ea typeface="Inter ExtraBold"/>
                <a:cs typeface="Inter ExtraBold"/>
                <a:sym typeface="Inter ExtraBold"/>
              </a:rPr>
              <a:t>To-Be Workflow: Automated Journeys &amp; Exception Routing</a:t>
            </a:r>
            <a:endParaRPr b="0" sz="1700">
              <a:solidFill>
                <a:srgbClr val="0A0A0A"/>
              </a:solidFill>
              <a:latin typeface="Inter ExtraBold"/>
              <a:ea typeface="Inter ExtraBold"/>
              <a:cs typeface="Inter ExtraBold"/>
              <a:sym typeface="Inter ExtraBold"/>
            </a:endParaRPr>
          </a:p>
          <a:p>
            <a:pPr indent="0" lvl="0" marL="0" rtl="0" algn="l">
              <a:spcBef>
                <a:spcPts val="300"/>
              </a:spcBef>
              <a:spcAft>
                <a:spcPts val="0"/>
              </a:spcAft>
              <a:buNone/>
            </a:pPr>
            <a:r>
              <a:rPr b="0" lang="en" sz="1105">
                <a:solidFill>
                  <a:srgbClr val="0055FF"/>
                </a:solidFill>
                <a:latin typeface="Inter SemiBold"/>
                <a:ea typeface="Inter SemiBold"/>
                <a:cs typeface="Inter SemiBold"/>
                <a:sym typeface="Inter SemiBold"/>
              </a:rPr>
              <a:t>Automating simple 1–29 DPD recovery while routing complex exceptions with full context</a:t>
            </a:r>
            <a:endParaRPr b="0" sz="1105">
              <a:solidFill>
                <a:srgbClr val="0055FF"/>
              </a:solidFill>
              <a:latin typeface="Inter SemiBold"/>
              <a:ea typeface="Inter SemiBold"/>
              <a:cs typeface="Inter SemiBold"/>
              <a:sym typeface="Inter SemiBold"/>
            </a:endParaRPr>
          </a:p>
        </p:txBody>
      </p:sp>
      <p:grpSp>
        <p:nvGrpSpPr>
          <p:cNvPr id="248" name="Google Shape;248;p19"/>
          <p:cNvGrpSpPr/>
          <p:nvPr/>
        </p:nvGrpSpPr>
        <p:grpSpPr>
          <a:xfrm>
            <a:off x="381000" y="1047750"/>
            <a:ext cx="8382000" cy="2238300"/>
            <a:chOff x="0" y="0"/>
            <a:chExt cx="8382000" cy="2238300"/>
          </a:xfrm>
        </p:grpSpPr>
        <p:sp>
          <p:nvSpPr>
            <p:cNvPr id="249" name="Google Shape;249;p19"/>
            <p:cNvSpPr/>
            <p:nvPr/>
          </p:nvSpPr>
          <p:spPr>
            <a:xfrm>
              <a:off x="0" y="0"/>
              <a:ext cx="8382000" cy="2238300"/>
            </a:xfrm>
            <a:prstGeom prst="rect">
              <a:avLst/>
            </a:prstGeom>
            <a:solidFill>
              <a:srgbClr val="F4F5F7"/>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9"/>
            <p:cNvSpPr txBox="1"/>
            <p:nvPr/>
          </p:nvSpPr>
          <p:spPr>
            <a:xfrm>
              <a:off x="190500" y="133350"/>
              <a:ext cx="80010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900">
                  <a:solidFill>
                    <a:srgbClr val="0A0A0A"/>
                  </a:solidFill>
                  <a:latin typeface="Inter"/>
                  <a:ea typeface="Inter"/>
                  <a:cs typeface="Inter"/>
                  <a:sym typeface="Inter"/>
                </a:rPr>
                <a:t>END-TO-END CUSTOMER JOURNEY &amp; EXCEPTION ROUTING MAP</a:t>
              </a:r>
              <a:endParaRPr b="1" sz="900">
                <a:solidFill>
                  <a:srgbClr val="0A0A0A"/>
                </a:solidFill>
                <a:latin typeface="Inter"/>
                <a:ea typeface="Inter"/>
                <a:cs typeface="Inter"/>
                <a:sym typeface="Inter"/>
              </a:endParaRPr>
            </a:p>
          </p:txBody>
        </p:sp>
        <p:grpSp>
          <p:nvGrpSpPr>
            <p:cNvPr id="251" name="Google Shape;251;p19"/>
            <p:cNvGrpSpPr/>
            <p:nvPr/>
          </p:nvGrpSpPr>
          <p:grpSpPr>
            <a:xfrm>
              <a:off x="238125" y="428625"/>
              <a:ext cx="7905900" cy="1571700"/>
              <a:chOff x="95250" y="0"/>
              <a:chExt cx="7905900" cy="1571700"/>
            </a:xfrm>
          </p:grpSpPr>
          <p:grpSp>
            <p:nvGrpSpPr>
              <p:cNvPr id="252" name="Google Shape;252;p19"/>
              <p:cNvGrpSpPr/>
              <p:nvPr/>
            </p:nvGrpSpPr>
            <p:grpSpPr>
              <a:xfrm>
                <a:off x="95250" y="476250"/>
                <a:ext cx="1428900" cy="619200"/>
                <a:chOff x="0" y="0"/>
                <a:chExt cx="1428900" cy="619200"/>
              </a:xfrm>
            </p:grpSpPr>
            <p:sp>
              <p:nvSpPr>
                <p:cNvPr id="253" name="Google Shape;253;p19"/>
                <p:cNvSpPr/>
                <p:nvPr/>
              </p:nvSpPr>
              <p:spPr>
                <a:xfrm>
                  <a:off x="0" y="0"/>
                  <a:ext cx="1428900" cy="619200"/>
                </a:xfrm>
                <a:prstGeom prst="rect">
                  <a:avLst/>
                </a:prstGeom>
                <a:solidFill>
                  <a:srgbClr val="FFFFFF"/>
                </a:solidFill>
                <a:ln cap="flat" cmpd="sng" w="19050">
                  <a:solidFill>
                    <a:srgbClr val="0A0A0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9"/>
                <p:cNvSpPr txBox="1"/>
                <p:nvPr/>
              </p:nvSpPr>
              <p:spPr>
                <a:xfrm>
                  <a:off x="114300" y="114300"/>
                  <a:ext cx="12003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935">
                      <a:solidFill>
                        <a:srgbClr val="0A0A0A"/>
                      </a:solidFill>
                      <a:latin typeface="Inter"/>
                      <a:ea typeface="Inter"/>
                      <a:cs typeface="Inter"/>
                      <a:sym typeface="Inter"/>
                    </a:rPr>
                    <a:t>1–29 DPD Accounts</a:t>
                  </a:r>
                  <a:endParaRPr b="1" sz="935">
                    <a:solidFill>
                      <a:srgbClr val="0A0A0A"/>
                    </a:solidFill>
                    <a:latin typeface="Inter"/>
                    <a:ea typeface="Inter"/>
                    <a:cs typeface="Inter"/>
                    <a:sym typeface="Inter"/>
                  </a:endParaRPr>
                </a:p>
                <a:p>
                  <a:pPr indent="0" lvl="0" marL="0" rtl="0" algn="l">
                    <a:spcBef>
                      <a:spcPts val="600"/>
                    </a:spcBef>
                    <a:spcAft>
                      <a:spcPts val="300"/>
                    </a:spcAft>
                    <a:buNone/>
                  </a:pPr>
                  <a:r>
                    <a:rPr b="1" lang="en" sz="680">
                      <a:solidFill>
                        <a:srgbClr val="4A4A4A"/>
                      </a:solidFill>
                      <a:latin typeface="Inter"/>
                      <a:ea typeface="Inter"/>
                      <a:cs typeface="Inter"/>
                      <a:sym typeface="Inter"/>
                    </a:rPr>
                    <a:t>Customer Entry</a:t>
                  </a:r>
                  <a:endParaRPr b="1" sz="680">
                    <a:solidFill>
                      <a:srgbClr val="4A4A4A"/>
                    </a:solidFill>
                    <a:latin typeface="Inter"/>
                    <a:ea typeface="Inter"/>
                    <a:cs typeface="Inter"/>
                    <a:sym typeface="Inter"/>
                  </a:endParaRPr>
                </a:p>
              </p:txBody>
            </p:sp>
          </p:grpSp>
          <p:grpSp>
            <p:nvGrpSpPr>
              <p:cNvPr id="255" name="Google Shape;255;p19"/>
              <p:cNvGrpSpPr/>
              <p:nvPr/>
            </p:nvGrpSpPr>
            <p:grpSpPr>
              <a:xfrm>
                <a:off x="1524000" y="747713"/>
                <a:ext cx="342900" cy="76200"/>
                <a:chOff x="0" y="-38100"/>
                <a:chExt cx="342900" cy="76200"/>
              </a:xfrm>
            </p:grpSpPr>
            <p:cxnSp>
              <p:nvCxnSpPr>
                <p:cNvPr id="256" name="Google Shape;256;p19"/>
                <p:cNvCxnSpPr/>
                <p:nvPr/>
              </p:nvCxnSpPr>
              <p:spPr>
                <a:xfrm>
                  <a:off x="0" y="0"/>
                  <a:ext cx="285900" cy="0"/>
                </a:xfrm>
                <a:prstGeom prst="straightConnector1">
                  <a:avLst/>
                </a:prstGeom>
                <a:solidFill>
                  <a:srgbClr val="FFFFFF"/>
                </a:solidFill>
                <a:ln cap="flat" cmpd="sng" w="19050">
                  <a:solidFill>
                    <a:srgbClr val="0A0A0A"/>
                  </a:solidFill>
                  <a:prstDash val="solid"/>
                  <a:round/>
                  <a:headEnd len="sm" w="sm" type="none"/>
                  <a:tailEnd len="sm" w="sm" type="none"/>
                </a:ln>
              </p:spPr>
            </p:cxnSp>
            <p:sp>
              <p:nvSpPr>
                <p:cNvPr id="257" name="Google Shape;257;p19"/>
                <p:cNvSpPr/>
                <p:nvPr/>
              </p:nvSpPr>
              <p:spPr>
                <a:xfrm>
                  <a:off x="266700" y="-38100"/>
                  <a:ext cx="76200" cy="76200"/>
                </a:xfrm>
                <a:custGeom>
                  <a:rect b="b" l="l" r="r" t="t"/>
                  <a:pathLst>
                    <a:path extrusionOk="0" h="120000" w="120000">
                      <a:moveTo>
                        <a:pt x="0" y="0"/>
                      </a:moveTo>
                      <a:lnTo>
                        <a:pt x="120000" y="6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58" name="Google Shape;258;p19"/>
              <p:cNvGrpSpPr/>
              <p:nvPr/>
            </p:nvGrpSpPr>
            <p:grpSpPr>
              <a:xfrm>
                <a:off x="1866900" y="476250"/>
                <a:ext cx="1524000" cy="619200"/>
                <a:chOff x="0" y="0"/>
                <a:chExt cx="1524000" cy="619200"/>
              </a:xfrm>
            </p:grpSpPr>
            <p:sp>
              <p:nvSpPr>
                <p:cNvPr id="259" name="Google Shape;259;p19"/>
                <p:cNvSpPr/>
                <p:nvPr/>
              </p:nvSpPr>
              <p:spPr>
                <a:xfrm>
                  <a:off x="0" y="0"/>
                  <a:ext cx="1524000" cy="619200"/>
                </a:xfrm>
                <a:prstGeom prst="rect">
                  <a:avLst/>
                </a:prstGeom>
                <a:solidFill>
                  <a:srgbClr val="FFFFFF"/>
                </a:solidFill>
                <a:ln cap="flat" cmpd="sng" w="19050">
                  <a:solidFill>
                    <a:srgbClr val="005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9"/>
                <p:cNvSpPr txBox="1"/>
                <p:nvPr/>
              </p:nvSpPr>
              <p:spPr>
                <a:xfrm>
                  <a:off x="114300" y="114300"/>
                  <a:ext cx="12954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055FF"/>
                      </a:solidFill>
                      <a:latin typeface="Inter"/>
                      <a:ea typeface="Inter"/>
                      <a:cs typeface="Inter"/>
                      <a:sym typeface="Inter"/>
                    </a:rPr>
                    <a:t>Automated Triage</a:t>
                  </a:r>
                  <a:endParaRPr b="1" sz="1100">
                    <a:solidFill>
                      <a:srgbClr val="0055FF"/>
                    </a:solidFill>
                    <a:latin typeface="Inter"/>
                    <a:ea typeface="Inter"/>
                    <a:cs typeface="Inter"/>
                    <a:sym typeface="Inter"/>
                  </a:endParaRPr>
                </a:p>
                <a:p>
                  <a:pPr indent="0" lvl="0" marL="0" rtl="0" algn="l">
                    <a:spcBef>
                      <a:spcPts val="600"/>
                    </a:spcBef>
                    <a:spcAft>
                      <a:spcPts val="300"/>
                    </a:spcAft>
                    <a:buNone/>
                  </a:pPr>
                  <a:r>
                    <a:rPr b="1" lang="en" sz="800">
                      <a:solidFill>
                        <a:srgbClr val="4A4A4A"/>
                      </a:solidFill>
                      <a:latin typeface="Inter"/>
                      <a:ea typeface="Inter"/>
                      <a:cs typeface="Inter"/>
                      <a:sym typeface="Inter"/>
                    </a:rPr>
                    <a:t>Workflow Engine</a:t>
                  </a:r>
                  <a:endParaRPr b="1" sz="800">
                    <a:solidFill>
                      <a:srgbClr val="4A4A4A"/>
                    </a:solidFill>
                    <a:latin typeface="Inter"/>
                    <a:ea typeface="Inter"/>
                    <a:cs typeface="Inter"/>
                    <a:sym typeface="Inter"/>
                  </a:endParaRPr>
                </a:p>
              </p:txBody>
            </p:sp>
          </p:grpSp>
          <p:grpSp>
            <p:nvGrpSpPr>
              <p:cNvPr id="261" name="Google Shape;261;p19"/>
              <p:cNvGrpSpPr/>
              <p:nvPr/>
            </p:nvGrpSpPr>
            <p:grpSpPr>
              <a:xfrm>
                <a:off x="3333750" y="114300"/>
                <a:ext cx="723900" cy="671663"/>
                <a:chOff x="3333750" y="114300"/>
                <a:chExt cx="723900" cy="671663"/>
              </a:xfrm>
            </p:grpSpPr>
            <p:sp>
              <p:nvSpPr>
                <p:cNvPr id="262" name="Google Shape;262;p19"/>
                <p:cNvSpPr/>
                <p:nvPr/>
              </p:nvSpPr>
              <p:spPr>
                <a:xfrm>
                  <a:off x="3390900" y="309563"/>
                  <a:ext cx="609600" cy="476400"/>
                </a:xfrm>
                <a:custGeom>
                  <a:rect b="b" l="l" r="r" t="t"/>
                  <a:pathLst>
                    <a:path extrusionOk="0" h="120000" w="120000">
                      <a:moveTo>
                        <a:pt x="0" y="120000"/>
                      </a:moveTo>
                      <a:lnTo>
                        <a:pt x="54375" y="120000"/>
                      </a:lnTo>
                      <a:lnTo>
                        <a:pt x="54375" y="0"/>
                      </a:lnTo>
                      <a:lnTo>
                        <a:pt x="120000" y="0"/>
                      </a:lnTo>
                    </a:path>
                  </a:pathLst>
                </a:custGeom>
                <a:solidFill>
                  <a:srgbClr val="000000">
                    <a:alpha val="0"/>
                  </a:srgbClr>
                </a:solidFill>
                <a:ln cap="flat" cmpd="sng" w="19050">
                  <a:solidFill>
                    <a:srgbClr val="005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9"/>
                <p:cNvSpPr/>
                <p:nvPr/>
              </p:nvSpPr>
              <p:spPr>
                <a:xfrm>
                  <a:off x="3981450" y="271463"/>
                  <a:ext cx="76200" cy="76200"/>
                </a:xfrm>
                <a:custGeom>
                  <a:rect b="b" l="l" r="r" t="t"/>
                  <a:pathLst>
                    <a:path extrusionOk="0" h="120000" w="120000">
                      <a:moveTo>
                        <a:pt x="0" y="0"/>
                      </a:moveTo>
                      <a:lnTo>
                        <a:pt x="120000" y="60000"/>
                      </a:lnTo>
                      <a:lnTo>
                        <a:pt x="0" y="120000"/>
                      </a:lnTo>
                      <a:close/>
                    </a:path>
                  </a:pathLst>
                </a:cu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19"/>
                <p:cNvSpPr txBox="1"/>
                <p:nvPr/>
              </p:nvSpPr>
              <p:spPr>
                <a:xfrm>
                  <a:off x="3333750" y="114300"/>
                  <a:ext cx="6669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750">
                      <a:solidFill>
                        <a:srgbClr val="0055FF"/>
                      </a:solidFill>
                      <a:latin typeface="Inter"/>
                      <a:ea typeface="Inter"/>
                      <a:cs typeface="Inter"/>
                      <a:sym typeface="Inter"/>
                    </a:rPr>
                    <a:t>STANDARD</a:t>
                  </a:r>
                  <a:endParaRPr b="1" sz="750">
                    <a:solidFill>
                      <a:srgbClr val="0055FF"/>
                    </a:solidFill>
                    <a:latin typeface="Inter"/>
                    <a:ea typeface="Inter"/>
                    <a:cs typeface="Inter"/>
                    <a:sym typeface="Inter"/>
                  </a:endParaRPr>
                </a:p>
              </p:txBody>
            </p:sp>
          </p:grpSp>
          <p:grpSp>
            <p:nvGrpSpPr>
              <p:cNvPr id="265" name="Google Shape;265;p19"/>
              <p:cNvGrpSpPr/>
              <p:nvPr/>
            </p:nvGrpSpPr>
            <p:grpSpPr>
              <a:xfrm>
                <a:off x="4057650" y="0"/>
                <a:ext cx="1762200" cy="619200"/>
                <a:chOff x="0" y="0"/>
                <a:chExt cx="1762200" cy="619200"/>
              </a:xfrm>
            </p:grpSpPr>
            <p:sp>
              <p:nvSpPr>
                <p:cNvPr id="266" name="Google Shape;266;p19"/>
                <p:cNvSpPr/>
                <p:nvPr/>
              </p:nvSpPr>
              <p:spPr>
                <a:xfrm>
                  <a:off x="0" y="0"/>
                  <a:ext cx="1762200" cy="619200"/>
                </a:xfrm>
                <a:prstGeom prst="rect">
                  <a:avLst/>
                </a:prstGeom>
                <a:solidFill>
                  <a:srgbClr val="FFFFFF"/>
                </a:solidFill>
                <a:ln cap="flat" cmpd="sng" w="14300">
                  <a:solidFill>
                    <a:srgbClr val="0A0A0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19"/>
                <p:cNvSpPr txBox="1"/>
                <p:nvPr/>
              </p:nvSpPr>
              <p:spPr>
                <a:xfrm>
                  <a:off x="114300" y="114300"/>
                  <a:ext cx="15336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0A0A0A"/>
                      </a:solidFill>
                      <a:latin typeface="Inter"/>
                      <a:ea typeface="Inter"/>
                      <a:cs typeface="Inter"/>
                      <a:sym typeface="Inter"/>
                    </a:rPr>
                    <a:t>Self-Serve Recovery</a:t>
                  </a:r>
                  <a:endParaRPr b="1" sz="1100">
                    <a:solidFill>
                      <a:srgbClr val="0A0A0A"/>
                    </a:solidFill>
                    <a:latin typeface="Inter"/>
                    <a:ea typeface="Inter"/>
                    <a:cs typeface="Inter"/>
                    <a:sym typeface="Inter"/>
                  </a:endParaRPr>
                </a:p>
                <a:p>
                  <a:pPr indent="0" lvl="0" marL="0" rtl="0" algn="l">
                    <a:spcBef>
                      <a:spcPts val="600"/>
                    </a:spcBef>
                    <a:spcAft>
                      <a:spcPts val="300"/>
                    </a:spcAft>
                    <a:buNone/>
                  </a:pPr>
                  <a:r>
                    <a:rPr b="1" lang="en" sz="800">
                      <a:solidFill>
                        <a:srgbClr val="0055FF"/>
                      </a:solidFill>
                      <a:latin typeface="Inter"/>
                      <a:ea typeface="Inter"/>
                      <a:cs typeface="Inter"/>
                      <a:sym typeface="Inter"/>
                    </a:rPr>
                    <a:t>Digitised Portal</a:t>
                  </a:r>
                  <a:endParaRPr b="1" sz="800">
                    <a:solidFill>
                      <a:srgbClr val="0055FF"/>
                    </a:solidFill>
                    <a:latin typeface="Inter"/>
                    <a:ea typeface="Inter"/>
                    <a:cs typeface="Inter"/>
                    <a:sym typeface="Inter"/>
                  </a:endParaRPr>
                </a:p>
              </p:txBody>
            </p:sp>
          </p:grpSp>
          <p:grpSp>
            <p:nvGrpSpPr>
              <p:cNvPr id="268" name="Google Shape;268;p19"/>
              <p:cNvGrpSpPr/>
              <p:nvPr/>
            </p:nvGrpSpPr>
            <p:grpSpPr>
              <a:xfrm>
                <a:off x="5819775" y="271463"/>
                <a:ext cx="295275" cy="76200"/>
                <a:chOff x="0" y="-38100"/>
                <a:chExt cx="295275" cy="76200"/>
              </a:xfrm>
            </p:grpSpPr>
            <p:cxnSp>
              <p:nvCxnSpPr>
                <p:cNvPr id="269" name="Google Shape;269;p19"/>
                <p:cNvCxnSpPr/>
                <p:nvPr/>
              </p:nvCxnSpPr>
              <p:spPr>
                <a:xfrm>
                  <a:off x="0" y="0"/>
                  <a:ext cx="238200" cy="0"/>
                </a:xfrm>
                <a:prstGeom prst="straightConnector1">
                  <a:avLst/>
                </a:prstGeom>
                <a:solidFill>
                  <a:srgbClr val="FFFFFF"/>
                </a:solidFill>
                <a:ln cap="flat" cmpd="sng" w="19050">
                  <a:solidFill>
                    <a:srgbClr val="0A0A0A"/>
                  </a:solidFill>
                  <a:prstDash val="solid"/>
                  <a:round/>
                  <a:headEnd len="sm" w="sm" type="none"/>
                  <a:tailEnd len="sm" w="sm" type="none"/>
                </a:ln>
              </p:spPr>
            </p:cxnSp>
            <p:sp>
              <p:nvSpPr>
                <p:cNvPr id="270" name="Google Shape;270;p19"/>
                <p:cNvSpPr/>
                <p:nvPr/>
              </p:nvSpPr>
              <p:spPr>
                <a:xfrm>
                  <a:off x="219075" y="-38100"/>
                  <a:ext cx="76200" cy="76200"/>
                </a:xfrm>
                <a:custGeom>
                  <a:rect b="b" l="l" r="r" t="t"/>
                  <a:pathLst>
                    <a:path extrusionOk="0" h="120000" w="120000">
                      <a:moveTo>
                        <a:pt x="0" y="0"/>
                      </a:moveTo>
                      <a:lnTo>
                        <a:pt x="120000" y="6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71" name="Google Shape;271;p19"/>
              <p:cNvGrpSpPr/>
              <p:nvPr/>
            </p:nvGrpSpPr>
            <p:grpSpPr>
              <a:xfrm>
                <a:off x="6115050" y="0"/>
                <a:ext cx="1886100" cy="619200"/>
                <a:chOff x="0" y="0"/>
                <a:chExt cx="1886100" cy="619200"/>
              </a:xfrm>
            </p:grpSpPr>
            <p:sp>
              <p:nvSpPr>
                <p:cNvPr id="272" name="Google Shape;272;p19"/>
                <p:cNvSpPr/>
                <p:nvPr/>
              </p:nvSpPr>
              <p:spPr>
                <a:xfrm>
                  <a:off x="0" y="0"/>
                  <a:ext cx="1886100" cy="619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9"/>
                <p:cNvSpPr txBox="1"/>
                <p:nvPr/>
              </p:nvSpPr>
              <p:spPr>
                <a:xfrm>
                  <a:off x="114300" y="114300"/>
                  <a:ext cx="16575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FFFFFF"/>
                      </a:solidFill>
                      <a:latin typeface="Inter"/>
                      <a:ea typeface="Inter"/>
                      <a:cs typeface="Inter"/>
                      <a:sym typeface="Inter"/>
                    </a:rPr>
                    <a:t>Automated Resolution</a:t>
                  </a:r>
                  <a:endParaRPr b="1" sz="1100">
                    <a:solidFill>
                      <a:srgbClr val="FFFFFF"/>
                    </a:solidFill>
                    <a:latin typeface="Inter"/>
                    <a:ea typeface="Inter"/>
                    <a:cs typeface="Inter"/>
                    <a:sym typeface="Inter"/>
                  </a:endParaRPr>
                </a:p>
                <a:p>
                  <a:pPr indent="0" lvl="0" marL="0" rtl="0" algn="l">
                    <a:spcBef>
                      <a:spcPts val="600"/>
                    </a:spcBef>
                    <a:spcAft>
                      <a:spcPts val="300"/>
                    </a:spcAft>
                    <a:buNone/>
                  </a:pPr>
                  <a:r>
                    <a:rPr b="1" lang="en" sz="800">
                      <a:solidFill>
                        <a:srgbClr val="FFFFFF"/>
                      </a:solidFill>
                      <a:latin typeface="Inter"/>
                      <a:ea typeface="Inter"/>
                      <a:cs typeface="Inter"/>
                      <a:sym typeface="Inter"/>
                    </a:rPr>
                    <a:t>Self-Serve Settlement</a:t>
                  </a:r>
                  <a:endParaRPr b="1" sz="800">
                    <a:solidFill>
                      <a:srgbClr val="FFFFFF"/>
                    </a:solidFill>
                    <a:latin typeface="Inter"/>
                    <a:ea typeface="Inter"/>
                    <a:cs typeface="Inter"/>
                    <a:sym typeface="Inter"/>
                  </a:endParaRPr>
                </a:p>
              </p:txBody>
            </p:sp>
          </p:grpSp>
          <p:grpSp>
            <p:nvGrpSpPr>
              <p:cNvPr id="274" name="Google Shape;274;p19"/>
              <p:cNvGrpSpPr/>
              <p:nvPr/>
            </p:nvGrpSpPr>
            <p:grpSpPr>
              <a:xfrm>
                <a:off x="3333750" y="785813"/>
                <a:ext cx="723900" cy="681188"/>
                <a:chOff x="3333750" y="785813"/>
                <a:chExt cx="723900" cy="681188"/>
              </a:xfrm>
            </p:grpSpPr>
            <p:sp>
              <p:nvSpPr>
                <p:cNvPr id="275" name="Google Shape;275;p19"/>
                <p:cNvSpPr/>
                <p:nvPr/>
              </p:nvSpPr>
              <p:spPr>
                <a:xfrm>
                  <a:off x="3390900" y="785813"/>
                  <a:ext cx="609600" cy="476400"/>
                </a:xfrm>
                <a:custGeom>
                  <a:rect b="b" l="l" r="r" t="t"/>
                  <a:pathLst>
                    <a:path extrusionOk="0" h="120000" w="120000">
                      <a:moveTo>
                        <a:pt x="0" y="0"/>
                      </a:moveTo>
                      <a:lnTo>
                        <a:pt x="54375" y="0"/>
                      </a:lnTo>
                      <a:lnTo>
                        <a:pt x="54375" y="120000"/>
                      </a:lnTo>
                      <a:lnTo>
                        <a:pt x="120000" y="120000"/>
                      </a:lnTo>
                    </a:path>
                  </a:pathLst>
                </a:custGeom>
                <a:solidFill>
                  <a:srgbClr val="000000">
                    <a:alpha val="0"/>
                  </a:srgbClr>
                </a:solidFill>
                <a:ln cap="flat" cmpd="sng" w="19050">
                  <a:solidFill>
                    <a:srgbClr val="D9230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19"/>
                <p:cNvSpPr/>
                <p:nvPr/>
              </p:nvSpPr>
              <p:spPr>
                <a:xfrm>
                  <a:off x="3981450" y="1223963"/>
                  <a:ext cx="76200" cy="76200"/>
                </a:xfrm>
                <a:custGeom>
                  <a:rect b="b" l="l" r="r" t="t"/>
                  <a:pathLst>
                    <a:path extrusionOk="0" h="120000" w="120000">
                      <a:moveTo>
                        <a:pt x="0" y="0"/>
                      </a:moveTo>
                      <a:lnTo>
                        <a:pt x="120000" y="60000"/>
                      </a:lnTo>
                      <a:lnTo>
                        <a:pt x="0" y="120000"/>
                      </a:lnTo>
                      <a:close/>
                    </a:path>
                  </a:pathLst>
                </a:cu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9"/>
                <p:cNvSpPr txBox="1"/>
                <p:nvPr/>
              </p:nvSpPr>
              <p:spPr>
                <a:xfrm>
                  <a:off x="3333750" y="1295400"/>
                  <a:ext cx="6669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300"/>
                    </a:spcAft>
                    <a:buNone/>
                  </a:pPr>
                  <a:r>
                    <a:rPr b="1" lang="en" sz="750">
                      <a:solidFill>
                        <a:srgbClr val="D9230F"/>
                      </a:solidFill>
                      <a:latin typeface="Inter"/>
                      <a:ea typeface="Inter"/>
                      <a:cs typeface="Inter"/>
                      <a:sym typeface="Inter"/>
                    </a:rPr>
                    <a:t>EXCEPTION</a:t>
                  </a:r>
                  <a:endParaRPr b="1" sz="750">
                    <a:solidFill>
                      <a:srgbClr val="D9230F"/>
                    </a:solidFill>
                    <a:latin typeface="Inter"/>
                    <a:ea typeface="Inter"/>
                    <a:cs typeface="Inter"/>
                    <a:sym typeface="Inter"/>
                  </a:endParaRPr>
                </a:p>
              </p:txBody>
            </p:sp>
          </p:grpSp>
          <p:grpSp>
            <p:nvGrpSpPr>
              <p:cNvPr id="278" name="Google Shape;278;p19"/>
              <p:cNvGrpSpPr/>
              <p:nvPr/>
            </p:nvGrpSpPr>
            <p:grpSpPr>
              <a:xfrm>
                <a:off x="4057650" y="952500"/>
                <a:ext cx="1762200" cy="619200"/>
                <a:chOff x="0" y="0"/>
                <a:chExt cx="1762200" cy="619200"/>
              </a:xfrm>
            </p:grpSpPr>
            <p:sp>
              <p:nvSpPr>
                <p:cNvPr id="279" name="Google Shape;279;p19"/>
                <p:cNvSpPr/>
                <p:nvPr/>
              </p:nvSpPr>
              <p:spPr>
                <a:xfrm>
                  <a:off x="0" y="0"/>
                  <a:ext cx="1762200" cy="619200"/>
                </a:xfrm>
                <a:prstGeom prst="rect">
                  <a:avLst/>
                </a:prstGeom>
                <a:solidFill>
                  <a:srgbClr val="FFFFFF"/>
                </a:solidFill>
                <a:ln cap="flat" cmpd="sng" w="14300">
                  <a:solidFill>
                    <a:srgbClr val="D9230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9"/>
                <p:cNvSpPr txBox="1"/>
                <p:nvPr/>
              </p:nvSpPr>
              <p:spPr>
                <a:xfrm>
                  <a:off x="114300" y="114300"/>
                  <a:ext cx="15336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rgbClr val="D9230F"/>
                      </a:solidFill>
                      <a:latin typeface="Inter"/>
                      <a:ea typeface="Inter"/>
                      <a:cs typeface="Inter"/>
                      <a:sym typeface="Inter"/>
                    </a:rPr>
                    <a:t>Hardship / Dispute</a:t>
                  </a:r>
                  <a:endParaRPr b="1" sz="1100">
                    <a:solidFill>
                      <a:srgbClr val="D9230F"/>
                    </a:solidFill>
                    <a:latin typeface="Inter"/>
                    <a:ea typeface="Inter"/>
                    <a:cs typeface="Inter"/>
                    <a:sym typeface="Inter"/>
                  </a:endParaRPr>
                </a:p>
                <a:p>
                  <a:pPr indent="0" lvl="0" marL="0" rtl="0" algn="l">
                    <a:spcBef>
                      <a:spcPts val="600"/>
                    </a:spcBef>
                    <a:spcAft>
                      <a:spcPts val="300"/>
                    </a:spcAft>
                    <a:buNone/>
                  </a:pPr>
                  <a:r>
                    <a:rPr b="1" lang="en" sz="800">
                      <a:solidFill>
                        <a:srgbClr val="4A4A4A"/>
                      </a:solidFill>
                      <a:latin typeface="Inter"/>
                      <a:ea typeface="Inter"/>
                      <a:cs typeface="Inter"/>
                      <a:sym typeface="Inter"/>
                    </a:rPr>
                    <a:t>Complex Case Detected</a:t>
                  </a:r>
                  <a:endParaRPr b="1" sz="800">
                    <a:solidFill>
                      <a:srgbClr val="4A4A4A"/>
                    </a:solidFill>
                    <a:latin typeface="Inter"/>
                    <a:ea typeface="Inter"/>
                    <a:cs typeface="Inter"/>
                    <a:sym typeface="Inter"/>
                  </a:endParaRPr>
                </a:p>
              </p:txBody>
            </p:sp>
          </p:grpSp>
          <p:grpSp>
            <p:nvGrpSpPr>
              <p:cNvPr id="281" name="Google Shape;281;p19"/>
              <p:cNvGrpSpPr/>
              <p:nvPr/>
            </p:nvGrpSpPr>
            <p:grpSpPr>
              <a:xfrm>
                <a:off x="5819775" y="1223963"/>
                <a:ext cx="295275" cy="76200"/>
                <a:chOff x="0" y="-38100"/>
                <a:chExt cx="295275" cy="76200"/>
              </a:xfrm>
            </p:grpSpPr>
            <p:cxnSp>
              <p:nvCxnSpPr>
                <p:cNvPr id="282" name="Google Shape;282;p19"/>
                <p:cNvCxnSpPr/>
                <p:nvPr/>
              </p:nvCxnSpPr>
              <p:spPr>
                <a:xfrm>
                  <a:off x="0" y="0"/>
                  <a:ext cx="238200" cy="0"/>
                </a:xfrm>
                <a:prstGeom prst="straightConnector1">
                  <a:avLst/>
                </a:prstGeom>
                <a:solidFill>
                  <a:srgbClr val="FFFFFF"/>
                </a:solidFill>
                <a:ln cap="flat" cmpd="sng" w="19050">
                  <a:solidFill>
                    <a:srgbClr val="D9230F"/>
                  </a:solidFill>
                  <a:prstDash val="solid"/>
                  <a:round/>
                  <a:headEnd len="sm" w="sm" type="none"/>
                  <a:tailEnd len="sm" w="sm" type="none"/>
                </a:ln>
              </p:spPr>
            </p:cxnSp>
            <p:sp>
              <p:nvSpPr>
                <p:cNvPr id="283" name="Google Shape;283;p19"/>
                <p:cNvSpPr/>
                <p:nvPr/>
              </p:nvSpPr>
              <p:spPr>
                <a:xfrm>
                  <a:off x="219075" y="-38100"/>
                  <a:ext cx="76200" cy="76200"/>
                </a:xfrm>
                <a:custGeom>
                  <a:rect b="b" l="l" r="r" t="t"/>
                  <a:pathLst>
                    <a:path extrusionOk="0" h="120000" w="120000">
                      <a:moveTo>
                        <a:pt x="0" y="0"/>
                      </a:moveTo>
                      <a:lnTo>
                        <a:pt x="120000" y="60000"/>
                      </a:lnTo>
                      <a:lnTo>
                        <a:pt x="0" y="120000"/>
                      </a:lnTo>
                      <a:close/>
                    </a:path>
                  </a:pathLst>
                </a:cu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84" name="Google Shape;284;p19"/>
              <p:cNvGrpSpPr/>
              <p:nvPr/>
            </p:nvGrpSpPr>
            <p:grpSpPr>
              <a:xfrm>
                <a:off x="6115050" y="952500"/>
                <a:ext cx="1886100" cy="619200"/>
                <a:chOff x="0" y="0"/>
                <a:chExt cx="1886100" cy="619200"/>
              </a:xfrm>
            </p:grpSpPr>
            <p:sp>
              <p:nvSpPr>
                <p:cNvPr id="285" name="Google Shape;285;p19"/>
                <p:cNvSpPr/>
                <p:nvPr/>
              </p:nvSpPr>
              <p:spPr>
                <a:xfrm>
                  <a:off x="0" y="0"/>
                  <a:ext cx="1886100" cy="6192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9"/>
                <p:cNvSpPr txBox="1"/>
                <p:nvPr/>
              </p:nvSpPr>
              <p:spPr>
                <a:xfrm>
                  <a:off x="114300" y="114300"/>
                  <a:ext cx="1657500" cy="390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50">
                      <a:solidFill>
                        <a:srgbClr val="FFFFFF"/>
                      </a:solidFill>
                      <a:latin typeface="Inter"/>
                      <a:ea typeface="Inter"/>
                      <a:cs typeface="Inter"/>
                      <a:sym typeface="Inter"/>
                    </a:rPr>
                    <a:t>Human Agent Routing</a:t>
                  </a:r>
                  <a:endParaRPr b="1" sz="1050">
                    <a:solidFill>
                      <a:srgbClr val="FFFFFF"/>
                    </a:solidFill>
                    <a:latin typeface="Inter"/>
                    <a:ea typeface="Inter"/>
                    <a:cs typeface="Inter"/>
                    <a:sym typeface="Inter"/>
                  </a:endParaRPr>
                </a:p>
                <a:p>
                  <a:pPr indent="0" lvl="0" marL="0" rtl="0" algn="l">
                    <a:spcBef>
                      <a:spcPts val="600"/>
                    </a:spcBef>
                    <a:spcAft>
                      <a:spcPts val="300"/>
                    </a:spcAft>
                    <a:buNone/>
                  </a:pPr>
                  <a:r>
                    <a:rPr b="1" lang="en" sz="750">
                      <a:solidFill>
                        <a:srgbClr val="0055FF"/>
                      </a:solidFill>
                      <a:latin typeface="Inter"/>
                      <a:ea typeface="Inter"/>
                      <a:cs typeface="Inter"/>
                      <a:sym typeface="Inter"/>
                    </a:rPr>
                    <a:t>+ Full Context Payload</a:t>
                  </a:r>
                  <a:endParaRPr b="1" sz="750">
                    <a:solidFill>
                      <a:srgbClr val="0055FF"/>
                    </a:solidFill>
                    <a:latin typeface="Inter"/>
                    <a:ea typeface="Inter"/>
                    <a:cs typeface="Inter"/>
                    <a:sym typeface="Inter"/>
                  </a:endParaRPr>
                </a:p>
              </p:txBody>
            </p:sp>
          </p:grpSp>
        </p:grpSp>
      </p:grpSp>
      <p:grpSp>
        <p:nvGrpSpPr>
          <p:cNvPr id="287" name="Google Shape;287;p19"/>
          <p:cNvGrpSpPr/>
          <p:nvPr/>
        </p:nvGrpSpPr>
        <p:grpSpPr>
          <a:xfrm>
            <a:off x="381000" y="3476625"/>
            <a:ext cx="8382000" cy="1285800"/>
            <a:chOff x="0" y="0"/>
            <a:chExt cx="8382000" cy="1285800"/>
          </a:xfrm>
        </p:grpSpPr>
        <p:grpSp>
          <p:nvGrpSpPr>
            <p:cNvPr id="288" name="Google Shape;288;p19"/>
            <p:cNvGrpSpPr/>
            <p:nvPr/>
          </p:nvGrpSpPr>
          <p:grpSpPr>
            <a:xfrm>
              <a:off x="0" y="0"/>
              <a:ext cx="2667000" cy="1285800"/>
              <a:chOff x="0" y="0"/>
              <a:chExt cx="2667000" cy="1285800"/>
            </a:xfrm>
          </p:grpSpPr>
          <p:sp>
            <p:nvSpPr>
              <p:cNvPr id="289" name="Google Shape;289;p19"/>
              <p:cNvSpPr/>
              <p:nvPr/>
            </p:nvSpPr>
            <p:spPr>
              <a:xfrm>
                <a:off x="0" y="0"/>
                <a:ext cx="2667000" cy="12858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9"/>
              <p:cNvSpPr/>
              <p:nvPr/>
            </p:nvSpPr>
            <p:spPr>
              <a:xfrm>
                <a:off x="0" y="0"/>
                <a:ext cx="26670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9"/>
              <p:cNvSpPr txBox="1"/>
              <p:nvPr/>
            </p:nvSpPr>
            <p:spPr>
              <a:xfrm>
                <a:off x="190500" y="152400"/>
                <a:ext cx="22860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1–29 DPD AUTOMATION</a:t>
                </a:r>
                <a:endParaRPr b="1" sz="900">
                  <a:solidFill>
                    <a:srgbClr val="0055FF"/>
                  </a:solidFill>
                  <a:latin typeface="Inter"/>
                  <a:ea typeface="Inter"/>
                  <a:cs typeface="Inter"/>
                  <a:sym typeface="Inter"/>
                </a:endParaRPr>
              </a:p>
              <a:p>
                <a:pPr indent="0" lvl="0" marL="0" rtl="0" algn="l">
                  <a:spcBef>
                    <a:spcPts val="300"/>
                  </a:spcBef>
                  <a:spcAft>
                    <a:spcPts val="0"/>
                  </a:spcAft>
                  <a:buNone/>
                </a:pPr>
                <a:r>
                  <a:rPr b="1" lang="en" sz="1100">
                    <a:solidFill>
                      <a:srgbClr val="0A0A0A"/>
                    </a:solidFill>
                    <a:latin typeface="Inter"/>
                    <a:ea typeface="Inter"/>
                    <a:cs typeface="Inter"/>
                    <a:sym typeface="Inter"/>
                  </a:rPr>
                  <a:t>Self-Serve Debt Recovery</a:t>
                </a:r>
                <a:endParaRPr b="1" sz="1100">
                  <a:solidFill>
                    <a:srgbClr val="0A0A0A"/>
                  </a:solidFill>
                  <a:latin typeface="Inter"/>
                  <a:ea typeface="Inter"/>
                  <a:cs typeface="Inter"/>
                  <a:sym typeface="Inter"/>
                </a:endParaRPr>
              </a:p>
              <a:p>
                <a:pPr indent="0" lvl="0" marL="0" rtl="0" algn="l">
                  <a:spcBef>
                    <a:spcPts val="450"/>
                  </a:spcBef>
                  <a:spcAft>
                    <a:spcPts val="600"/>
                  </a:spcAft>
                  <a:buNone/>
                </a:pPr>
                <a:r>
                  <a:rPr b="0" lang="en" sz="1000">
                    <a:solidFill>
                      <a:srgbClr val="4A4A4A"/>
                    </a:solidFill>
                    <a:latin typeface="Inter"/>
                    <a:ea typeface="Inter"/>
                    <a:cs typeface="Inter"/>
                    <a:sym typeface="Inter"/>
                  </a:rPr>
                  <a:t>Digitises simple self-serve recovery journeys for early-stage accounts, enabling friction-free payments.</a:t>
                </a:r>
                <a:endParaRPr b="0" sz="1000">
                  <a:solidFill>
                    <a:srgbClr val="4A4A4A"/>
                  </a:solidFill>
                  <a:latin typeface="Inter"/>
                  <a:ea typeface="Inter"/>
                  <a:cs typeface="Inter"/>
                  <a:sym typeface="Inter"/>
                </a:endParaRPr>
              </a:p>
            </p:txBody>
          </p:sp>
        </p:grpSp>
        <p:grpSp>
          <p:nvGrpSpPr>
            <p:cNvPr id="292" name="Google Shape;292;p19"/>
            <p:cNvGrpSpPr/>
            <p:nvPr/>
          </p:nvGrpSpPr>
          <p:grpSpPr>
            <a:xfrm>
              <a:off x="2857500" y="0"/>
              <a:ext cx="2667000" cy="1285800"/>
              <a:chOff x="0" y="0"/>
              <a:chExt cx="2667000" cy="1285800"/>
            </a:xfrm>
          </p:grpSpPr>
          <p:sp>
            <p:nvSpPr>
              <p:cNvPr id="293" name="Google Shape;293;p19"/>
              <p:cNvSpPr/>
              <p:nvPr/>
            </p:nvSpPr>
            <p:spPr>
              <a:xfrm>
                <a:off x="0" y="0"/>
                <a:ext cx="2667000" cy="12858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9"/>
              <p:cNvSpPr/>
              <p:nvPr/>
            </p:nvSpPr>
            <p:spPr>
              <a:xfrm>
                <a:off x="0" y="0"/>
                <a:ext cx="2667000" cy="38100"/>
              </a:xfrm>
              <a:prstGeom prst="rect">
                <a:avLst/>
              </a:prstGeom>
              <a:solidFill>
                <a:srgbClr val="D9230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9"/>
              <p:cNvSpPr txBox="1"/>
              <p:nvPr/>
            </p:nvSpPr>
            <p:spPr>
              <a:xfrm>
                <a:off x="190500" y="152400"/>
                <a:ext cx="22860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33">
                    <a:solidFill>
                      <a:srgbClr val="D9230F"/>
                    </a:solidFill>
                    <a:latin typeface="Inter"/>
                    <a:ea typeface="Inter"/>
                    <a:cs typeface="Inter"/>
                    <a:sym typeface="Inter"/>
                  </a:rPr>
                  <a:t>SMART TRIAGE</a:t>
                </a:r>
                <a:endParaRPr b="1" sz="833">
                  <a:solidFill>
                    <a:srgbClr val="D9230F"/>
                  </a:solidFill>
                  <a:latin typeface="Inter"/>
                  <a:ea typeface="Inter"/>
                  <a:cs typeface="Inter"/>
                  <a:sym typeface="Inter"/>
                </a:endParaRPr>
              </a:p>
              <a:p>
                <a:pPr indent="0" lvl="0" marL="0" rtl="0" algn="l">
                  <a:spcBef>
                    <a:spcPts val="300"/>
                  </a:spcBef>
                  <a:spcAft>
                    <a:spcPts val="0"/>
                  </a:spcAft>
                  <a:buNone/>
                </a:pPr>
                <a:r>
                  <a:rPr b="1" lang="en" sz="1018">
                    <a:solidFill>
                      <a:srgbClr val="0A0A0A"/>
                    </a:solidFill>
                    <a:latin typeface="Inter"/>
                    <a:ea typeface="Inter"/>
                    <a:cs typeface="Inter"/>
                    <a:sym typeface="Inter"/>
                  </a:rPr>
                  <a:t>Automatic Human Escalation</a:t>
                </a:r>
                <a:endParaRPr b="1" sz="1018">
                  <a:solidFill>
                    <a:srgbClr val="0A0A0A"/>
                  </a:solidFill>
                  <a:latin typeface="Inter"/>
                  <a:ea typeface="Inter"/>
                  <a:cs typeface="Inter"/>
                  <a:sym typeface="Inter"/>
                </a:endParaRPr>
              </a:p>
              <a:p>
                <a:pPr indent="0" lvl="0" marL="0" rtl="0" algn="l">
                  <a:spcBef>
                    <a:spcPts val="450"/>
                  </a:spcBef>
                  <a:spcAft>
                    <a:spcPts val="600"/>
                  </a:spcAft>
                  <a:buNone/>
                </a:pPr>
                <a:r>
                  <a:rPr b="0" lang="en" sz="925">
                    <a:solidFill>
                      <a:srgbClr val="4A4A4A"/>
                    </a:solidFill>
                    <a:latin typeface="Inter"/>
                    <a:ea typeface="Inter"/>
                    <a:cs typeface="Inter"/>
                    <a:sym typeface="Inter"/>
                  </a:rPr>
                  <a:t>Unsupported or complex cases (hardship declarations, active disputes) auto-route immediately to representatives.</a:t>
                </a:r>
                <a:endParaRPr b="0" sz="925">
                  <a:solidFill>
                    <a:srgbClr val="4A4A4A"/>
                  </a:solidFill>
                  <a:latin typeface="Inter"/>
                  <a:ea typeface="Inter"/>
                  <a:cs typeface="Inter"/>
                  <a:sym typeface="Inter"/>
                </a:endParaRPr>
              </a:p>
            </p:txBody>
          </p:sp>
        </p:grpSp>
        <p:grpSp>
          <p:nvGrpSpPr>
            <p:cNvPr id="296" name="Google Shape;296;p19"/>
            <p:cNvGrpSpPr/>
            <p:nvPr/>
          </p:nvGrpSpPr>
          <p:grpSpPr>
            <a:xfrm>
              <a:off x="5715000" y="0"/>
              <a:ext cx="2667000" cy="1285800"/>
              <a:chOff x="0" y="0"/>
              <a:chExt cx="2667000" cy="1285800"/>
            </a:xfrm>
          </p:grpSpPr>
          <p:sp>
            <p:nvSpPr>
              <p:cNvPr id="297" name="Google Shape;297;p19"/>
              <p:cNvSpPr/>
              <p:nvPr/>
            </p:nvSpPr>
            <p:spPr>
              <a:xfrm>
                <a:off x="0" y="0"/>
                <a:ext cx="2667000" cy="1285800"/>
              </a:xfrm>
              <a:prstGeom prst="rect">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8" name="Google Shape;298;p19"/>
              <p:cNvSpPr/>
              <p:nvPr/>
            </p:nvSpPr>
            <p:spPr>
              <a:xfrm>
                <a:off x="0" y="0"/>
                <a:ext cx="26670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19"/>
              <p:cNvSpPr txBox="1"/>
              <p:nvPr/>
            </p:nvSpPr>
            <p:spPr>
              <a:xfrm>
                <a:off x="190500" y="152400"/>
                <a:ext cx="2286000" cy="10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33">
                    <a:solidFill>
                      <a:srgbClr val="0A0A0A"/>
                    </a:solidFill>
                    <a:latin typeface="Inter"/>
                    <a:ea typeface="Inter"/>
                    <a:cs typeface="Inter"/>
                    <a:sym typeface="Inter"/>
                  </a:rPr>
                  <a:t>ZERO-FRICTION HAND-OFF</a:t>
                </a:r>
                <a:endParaRPr b="1" sz="833">
                  <a:solidFill>
                    <a:srgbClr val="0A0A0A"/>
                  </a:solidFill>
                  <a:latin typeface="Inter"/>
                  <a:ea typeface="Inter"/>
                  <a:cs typeface="Inter"/>
                  <a:sym typeface="Inter"/>
                </a:endParaRPr>
              </a:p>
              <a:p>
                <a:pPr indent="0" lvl="0" marL="0" rtl="0" algn="l">
                  <a:spcBef>
                    <a:spcPts val="300"/>
                  </a:spcBef>
                  <a:spcAft>
                    <a:spcPts val="0"/>
                  </a:spcAft>
                  <a:buNone/>
                </a:pPr>
                <a:r>
                  <a:rPr b="1" lang="en" sz="1018">
                    <a:solidFill>
                      <a:srgbClr val="0A0A0A"/>
                    </a:solidFill>
                    <a:latin typeface="Inter"/>
                    <a:ea typeface="Inter"/>
                    <a:cs typeface="Inter"/>
                    <a:sym typeface="Inter"/>
                  </a:rPr>
                  <a:t>Full Context Attached</a:t>
                </a:r>
                <a:endParaRPr b="1" sz="1018">
                  <a:solidFill>
                    <a:srgbClr val="0A0A0A"/>
                  </a:solidFill>
                  <a:latin typeface="Inter"/>
                  <a:ea typeface="Inter"/>
                  <a:cs typeface="Inter"/>
                  <a:sym typeface="Inter"/>
                </a:endParaRPr>
              </a:p>
              <a:p>
                <a:pPr indent="0" lvl="0" marL="0" rtl="0" algn="l">
                  <a:spcBef>
                    <a:spcPts val="450"/>
                  </a:spcBef>
                  <a:spcAft>
                    <a:spcPts val="600"/>
                  </a:spcAft>
                  <a:buNone/>
                </a:pPr>
                <a:r>
                  <a:rPr b="0" lang="en" sz="925">
                    <a:solidFill>
                      <a:srgbClr val="4A4A4A"/>
                    </a:solidFill>
                    <a:latin typeface="Inter"/>
                    <a:ea typeface="Inter"/>
                    <a:cs typeface="Inter"/>
                    <a:sym typeface="Inter"/>
                  </a:rPr>
                  <a:t>All routed tickets carry complete customer interaction history, eliminating repetitive conversations and broken hand-offs.</a:t>
                </a:r>
                <a:endParaRPr b="0" sz="925">
                  <a:solidFill>
                    <a:srgbClr val="4A4A4A"/>
                  </a:solidFill>
                  <a:latin typeface="Inter"/>
                  <a:ea typeface="Inter"/>
                  <a:cs typeface="Inter"/>
                  <a:sym typeface="Inte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pSp>
        <p:nvGrpSpPr>
          <p:cNvPr id="304" name="Google Shape;304;p20"/>
          <p:cNvGrpSpPr/>
          <p:nvPr/>
        </p:nvGrpSpPr>
        <p:grpSpPr>
          <a:xfrm>
            <a:off x="0" y="0"/>
            <a:ext cx="9144000" cy="5143500"/>
            <a:chOff x="0" y="0"/>
            <a:chExt cx="9144000" cy="5143500"/>
          </a:xfrm>
        </p:grpSpPr>
        <p:sp>
          <p:nvSpPr>
            <p:cNvPr id="305" name="Google Shape;305;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0"/>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07" name="Google Shape;307;p20"/>
          <p:cNvGrpSpPr/>
          <p:nvPr/>
        </p:nvGrpSpPr>
        <p:grpSpPr>
          <a:xfrm>
            <a:off x="381000" y="381000"/>
            <a:ext cx="1733700" cy="304950"/>
            <a:chOff x="0" y="0"/>
            <a:chExt cx="1733700" cy="304950"/>
          </a:xfrm>
        </p:grpSpPr>
        <p:sp>
          <p:nvSpPr>
            <p:cNvPr id="308" name="Google Shape;308;p20"/>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0"/>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0"/>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311" name="Google Shape;311;p20"/>
          <p:cNvSpPr txBox="1"/>
          <p:nvPr/>
        </p:nvSpPr>
        <p:spPr>
          <a:xfrm>
            <a:off x="381000" y="762000"/>
            <a:ext cx="8382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1200"/>
              </a:spcAft>
              <a:buNone/>
            </a:pPr>
            <a:r>
              <a:rPr b="0" lang="en" sz="2000">
                <a:solidFill>
                  <a:srgbClr val="0A0A0A"/>
                </a:solidFill>
                <a:latin typeface="Inter ExtraBold"/>
                <a:ea typeface="Inter ExtraBold"/>
                <a:cs typeface="Inter ExtraBold"/>
                <a:sym typeface="Inter ExtraBold"/>
              </a:rPr>
              <a:t>Structured Backlogs and Clickable Prototypes Ensure Immediate Delivery Readiness.</a:t>
            </a:r>
            <a:endParaRPr b="0" sz="2000">
              <a:solidFill>
                <a:srgbClr val="0A0A0A"/>
              </a:solidFill>
              <a:latin typeface="Inter ExtraBold"/>
              <a:ea typeface="Inter ExtraBold"/>
              <a:cs typeface="Inter ExtraBold"/>
              <a:sym typeface="Inter ExtraBold"/>
            </a:endParaRPr>
          </a:p>
        </p:txBody>
      </p:sp>
      <p:grpSp>
        <p:nvGrpSpPr>
          <p:cNvPr id="312" name="Google Shape;312;p20"/>
          <p:cNvGrpSpPr/>
          <p:nvPr/>
        </p:nvGrpSpPr>
        <p:grpSpPr>
          <a:xfrm>
            <a:off x="381000" y="1524000"/>
            <a:ext cx="2600400" cy="2952900"/>
            <a:chOff x="0" y="0"/>
            <a:chExt cx="2600400" cy="2952900"/>
          </a:xfrm>
        </p:grpSpPr>
        <p:grpSp>
          <p:nvGrpSpPr>
            <p:cNvPr id="313" name="Google Shape;313;p20"/>
            <p:cNvGrpSpPr/>
            <p:nvPr/>
          </p:nvGrpSpPr>
          <p:grpSpPr>
            <a:xfrm>
              <a:off x="0" y="0"/>
              <a:ext cx="2600400" cy="2952900"/>
              <a:chOff x="0" y="0"/>
              <a:chExt cx="2600400" cy="2952900"/>
            </a:xfrm>
          </p:grpSpPr>
          <p:sp>
            <p:nvSpPr>
              <p:cNvPr id="314" name="Google Shape;314;p20"/>
              <p:cNvSpPr/>
              <p:nvPr/>
            </p:nvSpPr>
            <p:spPr>
              <a:xfrm>
                <a:off x="0" y="0"/>
                <a:ext cx="2600400" cy="29529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5" name="Google Shape;315;p20"/>
              <p:cNvSpPr/>
              <p:nvPr/>
            </p:nvSpPr>
            <p:spPr>
              <a:xfrm>
                <a:off x="0" y="0"/>
                <a:ext cx="26004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16" name="Google Shape;316;p20"/>
            <p:cNvSpPr txBox="1"/>
            <p:nvPr/>
          </p:nvSpPr>
          <p:spPr>
            <a:xfrm>
              <a:off x="190500" y="190500"/>
              <a:ext cx="2219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REQUIREMENTS</a:t>
              </a:r>
              <a:endParaRPr b="1" sz="900">
                <a:solidFill>
                  <a:srgbClr val="0055FF"/>
                </a:solidFill>
                <a:latin typeface="Inter"/>
                <a:ea typeface="Inter"/>
                <a:cs typeface="Inter"/>
                <a:sym typeface="Inter"/>
              </a:endParaRPr>
            </a:p>
            <a:p>
              <a:pPr indent="0" lvl="0" marL="0" rtl="0" algn="l">
                <a:spcBef>
                  <a:spcPts val="300"/>
                </a:spcBef>
                <a:spcAft>
                  <a:spcPts val="0"/>
                </a:spcAft>
                <a:buNone/>
              </a:pPr>
              <a:r>
                <a:rPr b="1" lang="en" sz="1500">
                  <a:solidFill>
                    <a:srgbClr val="0A0A0A"/>
                  </a:solidFill>
                  <a:latin typeface="Inter"/>
                  <a:ea typeface="Inter"/>
                  <a:cs typeface="Inter"/>
                  <a:sym typeface="Inter"/>
                </a:rPr>
                <a:t>Structured Jira Backlog</a:t>
              </a:r>
              <a:endParaRPr b="1" sz="1500">
                <a:solidFill>
                  <a:srgbClr val="0A0A0A"/>
                </a:solidFill>
                <a:latin typeface="Inter"/>
                <a:ea typeface="Inter"/>
                <a:cs typeface="Inter"/>
                <a:sym typeface="Inter"/>
              </a:endParaRPr>
            </a:p>
            <a:p>
              <a:pPr indent="-317500" lvl="0" marL="457200" rtl="0" algn="l">
                <a:spcBef>
                  <a:spcPts val="900"/>
                </a:spcBef>
                <a:spcAft>
                  <a:spcPts val="0"/>
                </a:spcAft>
                <a:buSzPts val="1400"/>
                <a:buChar char="●"/>
              </a:pPr>
              <a:r>
                <a:rPr b="1" lang="en" sz="1100">
                  <a:solidFill>
                    <a:srgbClr val="4A4A4A"/>
                  </a:solidFill>
                  <a:latin typeface="Inter"/>
                  <a:ea typeface="Inter"/>
                  <a:cs typeface="Inter"/>
                  <a:sym typeface="Inter"/>
                </a:rPr>
                <a:t>15+ technical user stories</a:t>
              </a:r>
              <a:r>
                <a:rPr b="0" lang="en" sz="1100">
                  <a:solidFill>
                    <a:srgbClr val="4A4A4A"/>
                  </a:solidFill>
                  <a:latin typeface="Inter"/>
                  <a:ea typeface="Inter"/>
                  <a:cs typeface="Inter"/>
                  <a:sym typeface="Inter"/>
                </a:rPr>
                <a:t> across 5 Epics (VER, VIS, PAY, RTE, REP).</a:t>
              </a:r>
              <a:endParaRPr b="0" sz="1100">
                <a:solidFill>
                  <a:srgbClr val="4A4A4A"/>
                </a:solidFill>
                <a:latin typeface="Inter"/>
                <a:ea typeface="Inter"/>
                <a:cs typeface="Inter"/>
                <a:sym typeface="Inter"/>
              </a:endParaRPr>
            </a:p>
            <a:p>
              <a:pPr indent="-317500" lvl="0" marL="457200" rtl="0" algn="l">
                <a:spcBef>
                  <a:spcPts val="900"/>
                </a:spcBef>
                <a:spcAft>
                  <a:spcPts val="900"/>
                </a:spcAft>
                <a:buSzPts val="1400"/>
                <a:buChar char="●"/>
              </a:pPr>
              <a:r>
                <a:rPr b="0" lang="en" sz="1100">
                  <a:solidFill>
                    <a:srgbClr val="4A4A4A"/>
                  </a:solidFill>
                  <a:latin typeface="Inter"/>
                  <a:ea typeface="Inter"/>
                  <a:cs typeface="Inter"/>
                  <a:sym typeface="Inter"/>
                </a:rPr>
                <a:t>All stories are populated with testable </a:t>
              </a:r>
              <a:r>
                <a:rPr b="1" lang="en" sz="1100">
                  <a:solidFill>
                    <a:srgbClr val="4A4A4A"/>
                  </a:solidFill>
                  <a:latin typeface="Inter"/>
                  <a:ea typeface="Inter"/>
                  <a:cs typeface="Inter"/>
                  <a:sym typeface="Inter"/>
                </a:rPr>
                <a:t>Given/When/Then</a:t>
              </a:r>
              <a:r>
                <a:rPr b="0" lang="en" sz="1100">
                  <a:solidFill>
                    <a:srgbClr val="4A4A4A"/>
                  </a:solidFill>
                  <a:latin typeface="Inter"/>
                  <a:ea typeface="Inter"/>
                  <a:cs typeface="Inter"/>
                  <a:sym typeface="Inter"/>
                </a:rPr>
                <a:t> acceptance criteria.</a:t>
              </a:r>
              <a:endParaRPr b="0" sz="1100">
                <a:solidFill>
                  <a:srgbClr val="4A4A4A"/>
                </a:solidFill>
                <a:latin typeface="Inter"/>
                <a:ea typeface="Inter"/>
                <a:cs typeface="Inter"/>
                <a:sym typeface="Inter"/>
              </a:endParaRPr>
            </a:p>
          </p:txBody>
        </p:sp>
      </p:grpSp>
      <p:grpSp>
        <p:nvGrpSpPr>
          <p:cNvPr id="317" name="Google Shape;317;p20"/>
          <p:cNvGrpSpPr/>
          <p:nvPr/>
        </p:nvGrpSpPr>
        <p:grpSpPr>
          <a:xfrm>
            <a:off x="3267075" y="1524000"/>
            <a:ext cx="2600400" cy="2952900"/>
            <a:chOff x="0" y="0"/>
            <a:chExt cx="2600400" cy="2952900"/>
          </a:xfrm>
        </p:grpSpPr>
        <p:grpSp>
          <p:nvGrpSpPr>
            <p:cNvPr id="318" name="Google Shape;318;p20"/>
            <p:cNvGrpSpPr/>
            <p:nvPr/>
          </p:nvGrpSpPr>
          <p:grpSpPr>
            <a:xfrm>
              <a:off x="0" y="0"/>
              <a:ext cx="2600400" cy="2952900"/>
              <a:chOff x="0" y="0"/>
              <a:chExt cx="2600400" cy="2952900"/>
            </a:xfrm>
          </p:grpSpPr>
          <p:sp>
            <p:nvSpPr>
              <p:cNvPr id="319" name="Google Shape;319;p20"/>
              <p:cNvSpPr/>
              <p:nvPr/>
            </p:nvSpPr>
            <p:spPr>
              <a:xfrm>
                <a:off x="0" y="0"/>
                <a:ext cx="2600400" cy="29529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0"/>
              <p:cNvSpPr/>
              <p:nvPr/>
            </p:nvSpPr>
            <p:spPr>
              <a:xfrm>
                <a:off x="0" y="0"/>
                <a:ext cx="26004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1" name="Google Shape;321;p20"/>
            <p:cNvSpPr txBox="1"/>
            <p:nvPr/>
          </p:nvSpPr>
          <p:spPr>
            <a:xfrm>
              <a:off x="190500" y="190500"/>
              <a:ext cx="2219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UX &amp; USER FLOWS</a:t>
              </a:r>
              <a:endParaRPr b="1" sz="900">
                <a:solidFill>
                  <a:srgbClr val="0055FF"/>
                </a:solidFill>
                <a:latin typeface="Inter"/>
                <a:ea typeface="Inter"/>
                <a:cs typeface="Inter"/>
                <a:sym typeface="Inter"/>
              </a:endParaRPr>
            </a:p>
            <a:p>
              <a:pPr indent="0" lvl="0" marL="0" rtl="0" algn="l">
                <a:spcBef>
                  <a:spcPts val="300"/>
                </a:spcBef>
                <a:spcAft>
                  <a:spcPts val="0"/>
                </a:spcAft>
                <a:buNone/>
              </a:pPr>
              <a:r>
                <a:rPr b="1" lang="en" sz="1500">
                  <a:solidFill>
                    <a:srgbClr val="0055FF"/>
                  </a:solidFill>
                  <a:latin typeface="Inter"/>
                  <a:ea typeface="Inter"/>
                  <a:cs typeface="Inter"/>
                  <a:sym typeface="Inter"/>
                </a:rPr>
                <a:t>Prototype Readiness</a:t>
              </a:r>
              <a:endParaRPr b="1" sz="1500">
                <a:solidFill>
                  <a:srgbClr val="0055FF"/>
                </a:solidFill>
                <a:latin typeface="Inter"/>
                <a:ea typeface="Inter"/>
                <a:cs typeface="Inter"/>
                <a:sym typeface="Inter"/>
              </a:endParaRPr>
            </a:p>
            <a:p>
              <a:pPr indent="-317500" lvl="0" marL="457200" rtl="0" algn="l">
                <a:spcBef>
                  <a:spcPts val="900"/>
                </a:spcBef>
                <a:spcAft>
                  <a:spcPts val="0"/>
                </a:spcAft>
                <a:buSzPts val="1400"/>
                <a:buChar char="●"/>
              </a:pPr>
              <a:r>
                <a:rPr b="0" lang="en" sz="1100">
                  <a:solidFill>
                    <a:srgbClr val="4A4A4A"/>
                  </a:solidFill>
                  <a:latin typeface="Inter"/>
                  <a:ea typeface="Inter"/>
                  <a:cs typeface="Inter"/>
                  <a:sym typeface="Inter"/>
                </a:rPr>
                <a:t>A </a:t>
              </a:r>
              <a:r>
                <a:rPr b="1" lang="en" sz="1100">
                  <a:solidFill>
                    <a:srgbClr val="4A4A4A"/>
                  </a:solidFill>
                  <a:latin typeface="Inter"/>
                  <a:ea typeface="Inter"/>
                  <a:cs typeface="Inter"/>
                  <a:sym typeface="Inter"/>
                </a:rPr>
                <a:t>7-Screen Interactive Prototype</a:t>
              </a:r>
              <a:r>
                <a:rPr b="0" lang="en" sz="1100">
                  <a:solidFill>
                    <a:srgbClr val="4A4A4A"/>
                  </a:solidFill>
                  <a:latin typeface="Inter"/>
                  <a:ea typeface="Inter"/>
                  <a:cs typeface="Inter"/>
                  <a:sym typeface="Inter"/>
                </a:rPr>
                <a:t> demonstrates full payment flows, credential fields, and exception branching.</a:t>
              </a:r>
              <a:endParaRPr b="0" sz="1100">
                <a:solidFill>
                  <a:srgbClr val="4A4A4A"/>
                </a:solidFill>
                <a:latin typeface="Inter"/>
                <a:ea typeface="Inter"/>
                <a:cs typeface="Inter"/>
                <a:sym typeface="Inter"/>
              </a:endParaRPr>
            </a:p>
            <a:p>
              <a:pPr indent="-317500" lvl="0" marL="457200" rtl="0" algn="l">
                <a:spcBef>
                  <a:spcPts val="900"/>
                </a:spcBef>
                <a:spcAft>
                  <a:spcPts val="900"/>
                </a:spcAft>
                <a:buSzPts val="1400"/>
                <a:buChar char="●"/>
              </a:pPr>
              <a:r>
                <a:rPr b="0" lang="en" sz="1100">
                  <a:solidFill>
                    <a:srgbClr val="4A4A4A"/>
                  </a:solidFill>
                  <a:latin typeface="Inter"/>
                  <a:ea typeface="Inter"/>
                  <a:cs typeface="Inter"/>
                  <a:sym typeface="Inter"/>
                </a:rPr>
                <a:t>Every screen is strictly annotated with </a:t>
              </a:r>
              <a:r>
                <a:rPr b="1" lang="en" sz="1100">
                  <a:solidFill>
                    <a:srgbClr val="4A4A4A"/>
                  </a:solidFill>
                  <a:latin typeface="Inter"/>
                  <a:ea typeface="Inter"/>
                  <a:cs typeface="Inter"/>
                  <a:sym typeface="Inter"/>
                </a:rPr>
                <a:t>Jira Story ID badges</a:t>
              </a:r>
              <a:r>
                <a:rPr b="0" lang="en" sz="1100">
                  <a:solidFill>
                    <a:srgbClr val="4A4A4A"/>
                  </a:solidFill>
                  <a:latin typeface="Inter"/>
                  <a:ea typeface="Inter"/>
                  <a:cs typeface="Inter"/>
                  <a:sym typeface="Inter"/>
                </a:rPr>
                <a:t> for full traceability.</a:t>
              </a:r>
              <a:endParaRPr b="0" sz="1100">
                <a:solidFill>
                  <a:srgbClr val="4A4A4A"/>
                </a:solidFill>
                <a:latin typeface="Inter"/>
                <a:ea typeface="Inter"/>
                <a:cs typeface="Inter"/>
                <a:sym typeface="Inter"/>
              </a:endParaRPr>
            </a:p>
          </p:txBody>
        </p:sp>
      </p:grpSp>
      <p:grpSp>
        <p:nvGrpSpPr>
          <p:cNvPr id="322" name="Google Shape;322;p20"/>
          <p:cNvGrpSpPr/>
          <p:nvPr/>
        </p:nvGrpSpPr>
        <p:grpSpPr>
          <a:xfrm>
            <a:off x="6153150" y="1524000"/>
            <a:ext cx="2600400" cy="2952900"/>
            <a:chOff x="0" y="0"/>
            <a:chExt cx="2600400" cy="2952900"/>
          </a:xfrm>
        </p:grpSpPr>
        <p:grpSp>
          <p:nvGrpSpPr>
            <p:cNvPr id="323" name="Google Shape;323;p20"/>
            <p:cNvGrpSpPr/>
            <p:nvPr/>
          </p:nvGrpSpPr>
          <p:grpSpPr>
            <a:xfrm>
              <a:off x="0" y="0"/>
              <a:ext cx="2600400" cy="2952900"/>
              <a:chOff x="0" y="0"/>
              <a:chExt cx="2600400" cy="2952900"/>
            </a:xfrm>
          </p:grpSpPr>
          <p:sp>
            <p:nvSpPr>
              <p:cNvPr id="324" name="Google Shape;324;p20"/>
              <p:cNvSpPr/>
              <p:nvPr/>
            </p:nvSpPr>
            <p:spPr>
              <a:xfrm>
                <a:off x="0" y="0"/>
                <a:ext cx="2600400" cy="29529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20"/>
              <p:cNvSpPr/>
              <p:nvPr/>
            </p:nvSpPr>
            <p:spPr>
              <a:xfrm>
                <a:off x="0" y="0"/>
                <a:ext cx="2600400" cy="381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26" name="Google Shape;326;p20"/>
            <p:cNvSpPr txBox="1"/>
            <p:nvPr/>
          </p:nvSpPr>
          <p:spPr>
            <a:xfrm>
              <a:off x="190500" y="190500"/>
              <a:ext cx="22194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INTEGRATION</a:t>
              </a:r>
              <a:endParaRPr b="1" sz="900">
                <a:solidFill>
                  <a:srgbClr val="0055FF"/>
                </a:solidFill>
                <a:latin typeface="Inter"/>
                <a:ea typeface="Inter"/>
                <a:cs typeface="Inter"/>
                <a:sym typeface="Inter"/>
              </a:endParaRPr>
            </a:p>
            <a:p>
              <a:pPr indent="0" lvl="0" marL="0" rtl="0" algn="l">
                <a:spcBef>
                  <a:spcPts val="300"/>
                </a:spcBef>
                <a:spcAft>
                  <a:spcPts val="0"/>
                </a:spcAft>
                <a:buNone/>
              </a:pPr>
              <a:r>
                <a:rPr b="1" lang="en" sz="1500">
                  <a:solidFill>
                    <a:srgbClr val="0A0A0A"/>
                  </a:solidFill>
                  <a:latin typeface="Inter"/>
                  <a:ea typeface="Inter"/>
                  <a:cs typeface="Inter"/>
                  <a:sym typeface="Inter"/>
                </a:rPr>
                <a:t>Key Dependencies Identified</a:t>
              </a:r>
              <a:endParaRPr b="1" sz="1500">
                <a:solidFill>
                  <a:srgbClr val="0A0A0A"/>
                </a:solidFill>
                <a:latin typeface="Inter"/>
                <a:ea typeface="Inter"/>
                <a:cs typeface="Inter"/>
                <a:sym typeface="Inter"/>
              </a:endParaRPr>
            </a:p>
            <a:p>
              <a:pPr indent="-317500" lvl="0" marL="457200" rtl="0" algn="l">
                <a:spcBef>
                  <a:spcPts val="900"/>
                </a:spcBef>
                <a:spcAft>
                  <a:spcPts val="0"/>
                </a:spcAft>
                <a:buSzPts val="1400"/>
                <a:buChar char="●"/>
              </a:pPr>
              <a:r>
                <a:rPr b="1" lang="en" sz="1100">
                  <a:solidFill>
                    <a:srgbClr val="4A4A4A"/>
                  </a:solidFill>
                  <a:latin typeface="Inter"/>
                  <a:ea typeface="Inter"/>
                  <a:cs typeface="Inter"/>
                  <a:sym typeface="Inter"/>
                </a:rPr>
                <a:t>Legacy Database Read/Write API</a:t>
              </a:r>
              <a:r>
                <a:rPr b="0" lang="en" sz="1100">
                  <a:solidFill>
                    <a:srgbClr val="4A4A4A"/>
                  </a:solidFill>
                  <a:latin typeface="Inter"/>
                  <a:ea typeface="Inter"/>
                  <a:cs typeface="Inter"/>
                  <a:sym typeface="Inter"/>
                </a:rPr>
                <a:t> access.</a:t>
              </a:r>
              <a:endParaRPr b="0" sz="1100">
                <a:solidFill>
                  <a:srgbClr val="4A4A4A"/>
                </a:solidFill>
                <a:latin typeface="Inter"/>
                <a:ea typeface="Inter"/>
                <a:cs typeface="Inter"/>
                <a:sym typeface="Inter"/>
              </a:endParaRPr>
            </a:p>
            <a:p>
              <a:pPr indent="-317500" lvl="0" marL="457200" rtl="0" algn="l">
                <a:spcBef>
                  <a:spcPts val="900"/>
                </a:spcBef>
                <a:spcAft>
                  <a:spcPts val="900"/>
                </a:spcAft>
                <a:buSzPts val="1400"/>
                <a:buChar char="●"/>
              </a:pPr>
              <a:r>
                <a:rPr b="1" lang="en" sz="1100">
                  <a:solidFill>
                    <a:srgbClr val="4A4A4A"/>
                  </a:solidFill>
                  <a:latin typeface="Inter"/>
                  <a:ea typeface="Inter"/>
                  <a:cs typeface="Inter"/>
                  <a:sym typeface="Inter"/>
                </a:rPr>
                <a:t>Outbound Messaging Gateway</a:t>
              </a:r>
              <a:r>
                <a:rPr b="0" lang="en" sz="1100">
                  <a:solidFill>
                    <a:srgbClr val="4A4A4A"/>
                  </a:solidFill>
                  <a:latin typeface="Inter"/>
                  <a:ea typeface="Inter"/>
                  <a:cs typeface="Inter"/>
                  <a:sym typeface="Inter"/>
                </a:rPr>
                <a:t> integration.</a:t>
              </a:r>
              <a:endParaRPr b="0" sz="1100">
                <a:solidFill>
                  <a:srgbClr val="4A4A4A"/>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grpSp>
        <p:nvGrpSpPr>
          <p:cNvPr id="331" name="Google Shape;331;p21"/>
          <p:cNvGrpSpPr/>
          <p:nvPr/>
        </p:nvGrpSpPr>
        <p:grpSpPr>
          <a:xfrm>
            <a:off x="0" y="0"/>
            <a:ext cx="9144000" cy="5143500"/>
            <a:chOff x="0" y="0"/>
            <a:chExt cx="9144000" cy="5143500"/>
          </a:xfrm>
        </p:grpSpPr>
        <p:sp>
          <p:nvSpPr>
            <p:cNvPr id="332" name="Google Shape;332;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21"/>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34" name="Google Shape;334;p21"/>
          <p:cNvGrpSpPr/>
          <p:nvPr/>
        </p:nvGrpSpPr>
        <p:grpSpPr>
          <a:xfrm>
            <a:off x="381000" y="304800"/>
            <a:ext cx="1733700" cy="304950"/>
            <a:chOff x="0" y="0"/>
            <a:chExt cx="1733700" cy="304950"/>
          </a:xfrm>
        </p:grpSpPr>
        <p:sp>
          <p:nvSpPr>
            <p:cNvPr id="335" name="Google Shape;335;p21"/>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1"/>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1"/>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338" name="Google Shape;338;p21"/>
          <p:cNvSpPr txBox="1"/>
          <p:nvPr/>
        </p:nvSpPr>
        <p:spPr>
          <a:xfrm>
            <a:off x="381000" y="6858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1700">
                <a:solidFill>
                  <a:srgbClr val="0A0A0A"/>
                </a:solidFill>
                <a:latin typeface="Inter ExtraBold"/>
                <a:ea typeface="Inter ExtraBold"/>
                <a:cs typeface="Inter ExtraBold"/>
                <a:sym typeface="Inter ExtraBold"/>
              </a:rPr>
              <a:t>Proactive Mitigations Protect Representative Trust and Operational Adoption</a:t>
            </a:r>
            <a:endParaRPr b="0" sz="1700">
              <a:solidFill>
                <a:srgbClr val="0A0A0A"/>
              </a:solidFill>
              <a:latin typeface="Inter ExtraBold"/>
              <a:ea typeface="Inter ExtraBold"/>
              <a:cs typeface="Inter ExtraBold"/>
              <a:sym typeface="Inter ExtraBold"/>
            </a:endParaRPr>
          </a:p>
        </p:txBody>
      </p:sp>
      <p:grpSp>
        <p:nvGrpSpPr>
          <p:cNvPr id="339" name="Google Shape;339;p21"/>
          <p:cNvGrpSpPr/>
          <p:nvPr/>
        </p:nvGrpSpPr>
        <p:grpSpPr>
          <a:xfrm>
            <a:off x="381000" y="1285875"/>
            <a:ext cx="2667000" cy="3429000"/>
            <a:chOff x="0" y="0"/>
            <a:chExt cx="2667000" cy="3429000"/>
          </a:xfrm>
        </p:grpSpPr>
        <p:sp>
          <p:nvSpPr>
            <p:cNvPr id="340" name="Google Shape;340;p21"/>
            <p:cNvSpPr/>
            <p:nvPr/>
          </p:nvSpPr>
          <p:spPr>
            <a:xfrm>
              <a:off x="0" y="0"/>
              <a:ext cx="2667000" cy="3429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1"/>
            <p:cNvSpPr/>
            <p:nvPr/>
          </p:nvSpPr>
          <p:spPr>
            <a:xfrm>
              <a:off x="0" y="0"/>
              <a:ext cx="26670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21"/>
            <p:cNvSpPr txBox="1"/>
            <p:nvPr/>
          </p:nvSpPr>
          <p:spPr>
            <a:xfrm>
              <a:off x="190500" y="190500"/>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DESIRE</a:t>
              </a:r>
              <a:endParaRPr b="1" sz="900">
                <a:solidFill>
                  <a:srgbClr val="0055FF"/>
                </a:solidFill>
                <a:latin typeface="Inter"/>
                <a:ea typeface="Inter"/>
                <a:cs typeface="Inter"/>
                <a:sym typeface="Inter"/>
              </a:endParaRPr>
            </a:p>
            <a:p>
              <a:pPr indent="0" lvl="0" marL="0" rtl="0" algn="l">
                <a:spcBef>
                  <a:spcPts val="450"/>
                </a:spcBef>
                <a:spcAft>
                  <a:spcPts val="0"/>
                </a:spcAft>
                <a:buNone/>
              </a:pPr>
              <a:r>
                <a:rPr b="1" lang="en" sz="1500">
                  <a:solidFill>
                    <a:srgbClr val="0A0A0A"/>
                  </a:solidFill>
                  <a:latin typeface="Inter"/>
                  <a:ea typeface="Inter"/>
                  <a:cs typeface="Inter"/>
                  <a:sym typeface="Inter"/>
                </a:rPr>
                <a:t>Representative Trust</a:t>
              </a:r>
              <a:endParaRPr b="1" sz="1500">
                <a:solidFill>
                  <a:srgbClr val="0A0A0A"/>
                </a:solidFill>
                <a:latin typeface="Inter"/>
                <a:ea typeface="Inter"/>
                <a:cs typeface="Inter"/>
                <a:sym typeface="Inter"/>
              </a:endParaRPr>
            </a:p>
            <a:p>
              <a:pPr indent="0" lvl="0" marL="0" rtl="0" algn="l">
                <a:spcBef>
                  <a:spcPts val="900"/>
                </a:spcBef>
                <a:spcAft>
                  <a:spcPts val="0"/>
                </a:spcAft>
                <a:buNone/>
              </a:pPr>
              <a:r>
                <a:rPr b="1" lang="en" sz="900">
                  <a:solidFill>
                    <a:srgbClr val="D9230F"/>
                  </a:solidFill>
                  <a:highlight>
                    <a:srgbClr val="F4F5F7"/>
                  </a:highlight>
                  <a:latin typeface="Inter"/>
                  <a:ea typeface="Inter"/>
                  <a:cs typeface="Inter"/>
                  <a:sym typeface="Inter"/>
                </a:rPr>
                <a:t>Risk</a:t>
              </a:r>
              <a:endParaRPr b="1" sz="900">
                <a:solidFill>
                  <a:srgbClr val="D9230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Fears of automation replacing jobs and impacting performance evaluations.</a:t>
              </a:r>
              <a:endParaRPr b="0" sz="1000">
                <a:solidFill>
                  <a:srgbClr val="4A4A4A"/>
                </a:solidFill>
                <a:highlight>
                  <a:srgbClr val="F4F5F7"/>
                </a:highlight>
                <a:latin typeface="Inter"/>
                <a:ea typeface="Inter"/>
                <a:cs typeface="Inter"/>
                <a:sym typeface="Inter"/>
              </a:endParaRPr>
            </a:p>
            <a:p>
              <a:pPr indent="0" lvl="0" marL="0" rtl="0" algn="l">
                <a:spcBef>
                  <a:spcPts val="900"/>
                </a:spcBef>
                <a:spcAft>
                  <a:spcPts val="0"/>
                </a:spcAft>
                <a:buNone/>
              </a:pPr>
              <a:r>
                <a:rPr b="1" lang="en" sz="900">
                  <a:solidFill>
                    <a:srgbClr val="0055FF"/>
                  </a:solidFill>
                  <a:highlight>
                    <a:srgbClr val="F4F5F7"/>
                  </a:highlight>
                  <a:latin typeface="Inter"/>
                  <a:ea typeface="Inter"/>
                  <a:cs typeface="Inter"/>
                  <a:sym typeface="Inter"/>
                </a:rPr>
                <a:t>Mitigation</a:t>
              </a:r>
              <a:endParaRPr b="1" sz="900">
                <a:solidFill>
                  <a:srgbClr val="0055F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Positioned as an "Admin Shield" that removes routine logging without altering performance KPIs.</a:t>
              </a:r>
              <a:endParaRPr b="0" sz="1000">
                <a:solidFill>
                  <a:srgbClr val="4A4A4A"/>
                </a:solidFill>
                <a:highlight>
                  <a:srgbClr val="F4F5F7"/>
                </a:highlight>
                <a:latin typeface="Inter"/>
                <a:ea typeface="Inter"/>
                <a:cs typeface="Inter"/>
                <a:sym typeface="Inter"/>
              </a:endParaRPr>
            </a:p>
          </p:txBody>
        </p:sp>
      </p:grpSp>
      <p:grpSp>
        <p:nvGrpSpPr>
          <p:cNvPr id="343" name="Google Shape;343;p21"/>
          <p:cNvGrpSpPr/>
          <p:nvPr/>
        </p:nvGrpSpPr>
        <p:grpSpPr>
          <a:xfrm>
            <a:off x="3238500" y="1285875"/>
            <a:ext cx="2667000" cy="3429000"/>
            <a:chOff x="0" y="0"/>
            <a:chExt cx="2667000" cy="3429000"/>
          </a:xfrm>
        </p:grpSpPr>
        <p:sp>
          <p:nvSpPr>
            <p:cNvPr id="344" name="Google Shape;344;p21"/>
            <p:cNvSpPr/>
            <p:nvPr/>
          </p:nvSpPr>
          <p:spPr>
            <a:xfrm>
              <a:off x="0" y="0"/>
              <a:ext cx="2667000" cy="3429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1"/>
            <p:cNvSpPr/>
            <p:nvPr/>
          </p:nvSpPr>
          <p:spPr>
            <a:xfrm>
              <a:off x="0" y="0"/>
              <a:ext cx="26670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21"/>
            <p:cNvSpPr txBox="1"/>
            <p:nvPr/>
          </p:nvSpPr>
          <p:spPr>
            <a:xfrm>
              <a:off x="190500" y="190500"/>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ABILITY</a:t>
              </a:r>
              <a:endParaRPr b="1" sz="900">
                <a:solidFill>
                  <a:srgbClr val="0055FF"/>
                </a:solidFill>
                <a:latin typeface="Inter"/>
                <a:ea typeface="Inter"/>
                <a:cs typeface="Inter"/>
                <a:sym typeface="Inter"/>
              </a:endParaRPr>
            </a:p>
            <a:p>
              <a:pPr indent="0" lvl="0" marL="0" rtl="0" algn="l">
                <a:spcBef>
                  <a:spcPts val="450"/>
                </a:spcBef>
                <a:spcAft>
                  <a:spcPts val="0"/>
                </a:spcAft>
                <a:buNone/>
              </a:pPr>
              <a:r>
                <a:rPr b="1" lang="en" sz="1500">
                  <a:solidFill>
                    <a:srgbClr val="0A0A0A"/>
                  </a:solidFill>
                  <a:latin typeface="Inter"/>
                  <a:ea typeface="Inter"/>
                  <a:cs typeface="Inter"/>
                  <a:sym typeface="Inter"/>
                </a:rPr>
                <a:t>Context-Rich Hand-offs</a:t>
              </a:r>
              <a:endParaRPr b="1" sz="1500">
                <a:solidFill>
                  <a:srgbClr val="0A0A0A"/>
                </a:solidFill>
                <a:latin typeface="Inter"/>
                <a:ea typeface="Inter"/>
                <a:cs typeface="Inter"/>
                <a:sym typeface="Inter"/>
              </a:endParaRPr>
            </a:p>
            <a:p>
              <a:pPr indent="0" lvl="0" marL="0" rtl="0" algn="l">
                <a:spcBef>
                  <a:spcPts val="900"/>
                </a:spcBef>
                <a:spcAft>
                  <a:spcPts val="0"/>
                </a:spcAft>
                <a:buNone/>
              </a:pPr>
              <a:r>
                <a:rPr b="1" lang="en" sz="900">
                  <a:solidFill>
                    <a:srgbClr val="D9230F"/>
                  </a:solidFill>
                  <a:highlight>
                    <a:srgbClr val="F4F5F7"/>
                  </a:highlight>
                  <a:latin typeface="Inter"/>
                  <a:ea typeface="Inter"/>
                  <a:cs typeface="Inter"/>
                  <a:sym typeface="Inter"/>
                </a:rPr>
                <a:t>Risk</a:t>
              </a:r>
              <a:endParaRPr b="1" sz="900">
                <a:solidFill>
                  <a:srgbClr val="D9230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Reps rejecting portal-routed cases due to lack of upfront context and history.</a:t>
              </a:r>
              <a:endParaRPr b="0" sz="1000">
                <a:solidFill>
                  <a:srgbClr val="4A4A4A"/>
                </a:solidFill>
                <a:highlight>
                  <a:srgbClr val="F4F5F7"/>
                </a:highlight>
                <a:latin typeface="Inter"/>
                <a:ea typeface="Inter"/>
                <a:cs typeface="Inter"/>
                <a:sym typeface="Inter"/>
              </a:endParaRPr>
            </a:p>
            <a:p>
              <a:pPr indent="0" lvl="0" marL="0" rtl="0" algn="l">
                <a:spcBef>
                  <a:spcPts val="900"/>
                </a:spcBef>
                <a:spcAft>
                  <a:spcPts val="0"/>
                </a:spcAft>
                <a:buNone/>
              </a:pPr>
              <a:r>
                <a:rPr b="1" lang="en" sz="900">
                  <a:solidFill>
                    <a:srgbClr val="0055FF"/>
                  </a:solidFill>
                  <a:highlight>
                    <a:srgbClr val="F4F5F7"/>
                  </a:highlight>
                  <a:latin typeface="Inter"/>
                  <a:ea typeface="Inter"/>
                  <a:cs typeface="Inter"/>
                  <a:sym typeface="Inter"/>
                </a:rPr>
                <a:t>Mitigation</a:t>
              </a:r>
              <a:endParaRPr b="1" sz="900">
                <a:solidFill>
                  <a:srgbClr val="0055F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Automated context payloads (session logs, balance viewed, exit reason) strictly enforced on all escalated tickets.</a:t>
              </a:r>
              <a:endParaRPr b="0" sz="1000">
                <a:solidFill>
                  <a:srgbClr val="4A4A4A"/>
                </a:solidFill>
                <a:highlight>
                  <a:srgbClr val="F4F5F7"/>
                </a:highlight>
                <a:latin typeface="Inter"/>
                <a:ea typeface="Inter"/>
                <a:cs typeface="Inter"/>
                <a:sym typeface="Inter"/>
              </a:endParaRPr>
            </a:p>
          </p:txBody>
        </p:sp>
      </p:grpSp>
      <p:grpSp>
        <p:nvGrpSpPr>
          <p:cNvPr id="347" name="Google Shape;347;p21"/>
          <p:cNvGrpSpPr/>
          <p:nvPr/>
        </p:nvGrpSpPr>
        <p:grpSpPr>
          <a:xfrm>
            <a:off x="6096000" y="1285875"/>
            <a:ext cx="2667000" cy="3429000"/>
            <a:chOff x="0" y="0"/>
            <a:chExt cx="2667000" cy="3429000"/>
          </a:xfrm>
        </p:grpSpPr>
        <p:sp>
          <p:nvSpPr>
            <p:cNvPr id="348" name="Google Shape;348;p21"/>
            <p:cNvSpPr/>
            <p:nvPr/>
          </p:nvSpPr>
          <p:spPr>
            <a:xfrm>
              <a:off x="0" y="0"/>
              <a:ext cx="2667000" cy="3429000"/>
            </a:xfrm>
            <a:prstGeom prst="rect">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1"/>
            <p:cNvSpPr/>
            <p:nvPr/>
          </p:nvSpPr>
          <p:spPr>
            <a:xfrm>
              <a:off x="0" y="0"/>
              <a:ext cx="2667000" cy="381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21"/>
            <p:cNvSpPr txBox="1"/>
            <p:nvPr/>
          </p:nvSpPr>
          <p:spPr>
            <a:xfrm>
              <a:off x="190500" y="190500"/>
              <a:ext cx="22860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00">
                  <a:solidFill>
                    <a:srgbClr val="0055FF"/>
                  </a:solidFill>
                  <a:latin typeface="Inter"/>
                  <a:ea typeface="Inter"/>
                  <a:cs typeface="Inter"/>
                  <a:sym typeface="Inter"/>
                </a:rPr>
                <a:t>REINFORCEMENT</a:t>
              </a:r>
              <a:endParaRPr b="1" sz="900">
                <a:solidFill>
                  <a:srgbClr val="0055FF"/>
                </a:solidFill>
                <a:latin typeface="Inter"/>
                <a:ea typeface="Inter"/>
                <a:cs typeface="Inter"/>
                <a:sym typeface="Inter"/>
              </a:endParaRPr>
            </a:p>
            <a:p>
              <a:pPr indent="0" lvl="0" marL="0" rtl="0" algn="l">
                <a:spcBef>
                  <a:spcPts val="450"/>
                </a:spcBef>
                <a:spcAft>
                  <a:spcPts val="0"/>
                </a:spcAft>
                <a:buNone/>
              </a:pPr>
              <a:r>
                <a:rPr b="1" lang="en" sz="1500">
                  <a:solidFill>
                    <a:srgbClr val="0A0A0A"/>
                  </a:solidFill>
                  <a:latin typeface="Inter"/>
                  <a:ea typeface="Inter"/>
                  <a:cs typeface="Inter"/>
                  <a:sym typeface="Inter"/>
                </a:rPr>
                <a:t>Manager Visibility</a:t>
              </a:r>
              <a:endParaRPr b="1" sz="1500">
                <a:solidFill>
                  <a:srgbClr val="0A0A0A"/>
                </a:solidFill>
                <a:latin typeface="Inter"/>
                <a:ea typeface="Inter"/>
                <a:cs typeface="Inter"/>
                <a:sym typeface="Inter"/>
              </a:endParaRPr>
            </a:p>
            <a:p>
              <a:pPr indent="0" lvl="0" marL="0" rtl="0" algn="l">
                <a:spcBef>
                  <a:spcPts val="900"/>
                </a:spcBef>
                <a:spcAft>
                  <a:spcPts val="0"/>
                </a:spcAft>
                <a:buNone/>
              </a:pPr>
              <a:r>
                <a:rPr b="1" lang="en" sz="900">
                  <a:solidFill>
                    <a:srgbClr val="D9230F"/>
                  </a:solidFill>
                  <a:highlight>
                    <a:srgbClr val="F4F5F7"/>
                  </a:highlight>
                  <a:latin typeface="Inter"/>
                  <a:ea typeface="Inter"/>
                  <a:cs typeface="Inter"/>
                  <a:sym typeface="Inter"/>
                </a:rPr>
                <a:t>Risk</a:t>
              </a:r>
              <a:endParaRPr b="1" sz="900">
                <a:solidFill>
                  <a:srgbClr val="D9230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Lack of line-of-sight into adoption metrics and operational efficiency gains.</a:t>
              </a:r>
              <a:endParaRPr b="0" sz="1000">
                <a:solidFill>
                  <a:srgbClr val="4A4A4A"/>
                </a:solidFill>
                <a:highlight>
                  <a:srgbClr val="F4F5F7"/>
                </a:highlight>
                <a:latin typeface="Inter"/>
                <a:ea typeface="Inter"/>
                <a:cs typeface="Inter"/>
                <a:sym typeface="Inter"/>
              </a:endParaRPr>
            </a:p>
            <a:p>
              <a:pPr indent="0" lvl="0" marL="0" rtl="0" algn="l">
                <a:spcBef>
                  <a:spcPts val="900"/>
                </a:spcBef>
                <a:spcAft>
                  <a:spcPts val="0"/>
                </a:spcAft>
                <a:buNone/>
              </a:pPr>
              <a:r>
                <a:rPr b="1" lang="en" sz="900">
                  <a:solidFill>
                    <a:srgbClr val="0055FF"/>
                  </a:solidFill>
                  <a:highlight>
                    <a:srgbClr val="F4F5F7"/>
                  </a:highlight>
                  <a:latin typeface="Inter"/>
                  <a:ea typeface="Inter"/>
                  <a:cs typeface="Inter"/>
                  <a:sym typeface="Inter"/>
                </a:rPr>
                <a:t>Mitigation</a:t>
              </a:r>
              <a:endParaRPr b="1" sz="900">
                <a:solidFill>
                  <a:srgbClr val="0055FF"/>
                </a:solidFill>
                <a:highlight>
                  <a:srgbClr val="F4F5F7"/>
                </a:highlight>
                <a:latin typeface="Inter"/>
                <a:ea typeface="Inter"/>
                <a:cs typeface="Inter"/>
                <a:sym typeface="Inter"/>
              </a:endParaRPr>
            </a:p>
            <a:p>
              <a:pPr indent="0" lvl="0" marL="0" rtl="0" algn="l">
                <a:spcBef>
                  <a:spcPts val="300"/>
                </a:spcBef>
                <a:spcAft>
                  <a:spcPts val="0"/>
                </a:spcAft>
                <a:buNone/>
              </a:pPr>
              <a:r>
                <a:rPr b="0" lang="en" sz="1000">
                  <a:solidFill>
                    <a:srgbClr val="4A4A4A"/>
                  </a:solidFill>
                  <a:highlight>
                    <a:srgbClr val="F4F5F7"/>
                  </a:highlight>
                  <a:latin typeface="Inter"/>
                  <a:ea typeface="Inter"/>
                  <a:cs typeface="Inter"/>
                  <a:sym typeface="Inter"/>
                </a:rPr>
                <a:t>Real-time dashboards tracking Conversion Rates, Hours Saved, and Context Attachment Rates.</a:t>
              </a:r>
              <a:endParaRPr b="0" sz="1000">
                <a:solidFill>
                  <a:srgbClr val="4A4A4A"/>
                </a:solidFill>
                <a:highlight>
                  <a:srgbClr val="F4F5F7"/>
                </a:highlight>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grpSp>
        <p:nvGrpSpPr>
          <p:cNvPr id="355" name="Google Shape;355;p22"/>
          <p:cNvGrpSpPr/>
          <p:nvPr/>
        </p:nvGrpSpPr>
        <p:grpSpPr>
          <a:xfrm>
            <a:off x="0" y="0"/>
            <a:ext cx="9144000" cy="5143500"/>
            <a:chOff x="0" y="0"/>
            <a:chExt cx="9144000" cy="5143500"/>
          </a:xfrm>
        </p:grpSpPr>
        <p:sp>
          <p:nvSpPr>
            <p:cNvPr id="356" name="Google Shape;356;p22"/>
            <p:cNvSpPr/>
            <p:nvPr/>
          </p:nvSpPr>
          <p:spPr>
            <a:xfrm>
              <a:off x="0" y="0"/>
              <a:ext cx="4572000" cy="5143500"/>
            </a:xfrm>
            <a:prstGeom prst="rect">
              <a:avLst/>
            </a:prstGeom>
            <a:solidFill>
              <a:srgbClr val="F4F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2"/>
            <p:cNvSpPr/>
            <p:nvPr/>
          </p:nvSpPr>
          <p:spPr>
            <a:xfrm>
              <a:off x="4572000" y="0"/>
              <a:ext cx="4572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22"/>
            <p:cNvSpPr/>
            <p:nvPr/>
          </p:nvSpPr>
          <p:spPr>
            <a:xfrm>
              <a:off x="0" y="0"/>
              <a:ext cx="9144000" cy="762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59" name="Google Shape;359;p22"/>
          <p:cNvGrpSpPr/>
          <p:nvPr/>
        </p:nvGrpSpPr>
        <p:grpSpPr>
          <a:xfrm>
            <a:off x="381000" y="381000"/>
            <a:ext cx="1733700" cy="304950"/>
            <a:chOff x="0" y="0"/>
            <a:chExt cx="1733700" cy="304950"/>
          </a:xfrm>
        </p:grpSpPr>
        <p:sp>
          <p:nvSpPr>
            <p:cNvPr id="360" name="Google Shape;360;p22"/>
            <p:cNvSpPr/>
            <p:nvPr/>
          </p:nvSpPr>
          <p:spPr>
            <a:xfrm>
              <a:off x="0" y="0"/>
              <a:ext cx="228600" cy="2286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22"/>
            <p:cNvSpPr/>
            <p:nvPr/>
          </p:nvSpPr>
          <p:spPr>
            <a:xfrm>
              <a:off x="76200" y="76200"/>
              <a:ext cx="152400" cy="152400"/>
            </a:xfrm>
            <a:custGeom>
              <a:rect b="b" l="l" r="r" t="t"/>
              <a:pathLst>
                <a:path extrusionOk="0" h="120000" w="120000">
                  <a:moveTo>
                    <a:pt x="60000" y="0"/>
                  </a:moveTo>
                  <a:lnTo>
                    <a:pt x="120000" y="120000"/>
                  </a:lnTo>
                  <a:lnTo>
                    <a:pt x="0" y="120000"/>
                  </a:lnTo>
                  <a:close/>
                </a:path>
              </a:pathLst>
            </a:cu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2"/>
            <p:cNvSpPr txBox="1"/>
            <p:nvPr/>
          </p:nvSpPr>
          <p:spPr>
            <a:xfrm>
              <a:off x="304800" y="19050"/>
              <a:ext cx="14289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0A0A0A"/>
                  </a:solidFill>
                  <a:latin typeface="Inter ExtraBold"/>
                  <a:ea typeface="Inter ExtraBold"/>
                  <a:cs typeface="Inter ExtraBold"/>
                  <a:sym typeface="Inter ExtraBold"/>
                </a:rPr>
                <a:t>SMART</a:t>
              </a:r>
              <a:r>
                <a:rPr b="0" lang="en" sz="1400">
                  <a:solidFill>
                    <a:srgbClr val="0055FF"/>
                  </a:solidFill>
                  <a:latin typeface="Inter ExtraBold"/>
                  <a:ea typeface="Inter ExtraBold"/>
                  <a:cs typeface="Inter ExtraBold"/>
                  <a:sym typeface="Inter ExtraBold"/>
                </a:rPr>
                <a:t>REC</a:t>
              </a:r>
              <a:endParaRPr/>
            </a:p>
          </p:txBody>
        </p:sp>
      </p:grpSp>
      <p:sp>
        <p:nvSpPr>
          <p:cNvPr id="363" name="Google Shape;363;p22"/>
          <p:cNvSpPr txBox="1"/>
          <p:nvPr/>
        </p:nvSpPr>
        <p:spPr>
          <a:xfrm>
            <a:off x="381000" y="762000"/>
            <a:ext cx="8382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700">
                <a:solidFill>
                  <a:srgbClr val="0A0A0A"/>
                </a:solidFill>
                <a:latin typeface="Inter ExtraBold"/>
                <a:ea typeface="Inter ExtraBold"/>
                <a:cs typeface="Inter ExtraBold"/>
                <a:sym typeface="Inter ExtraBold"/>
              </a:rPr>
              <a:t>Approve £260,000 Capital Expenditure to Initiate Sprint 1 Delivery Planning</a:t>
            </a:r>
            <a:endParaRPr b="0" sz="1700">
              <a:solidFill>
                <a:srgbClr val="0A0A0A"/>
              </a:solidFill>
              <a:latin typeface="Inter ExtraBold"/>
              <a:ea typeface="Inter ExtraBold"/>
              <a:cs typeface="Inter ExtraBold"/>
              <a:sym typeface="Inter ExtraBold"/>
            </a:endParaRPr>
          </a:p>
        </p:txBody>
      </p:sp>
      <p:grpSp>
        <p:nvGrpSpPr>
          <p:cNvPr id="364" name="Google Shape;364;p22"/>
          <p:cNvGrpSpPr/>
          <p:nvPr/>
        </p:nvGrpSpPr>
        <p:grpSpPr>
          <a:xfrm>
            <a:off x="381000" y="1333500"/>
            <a:ext cx="3810000" cy="3333900"/>
            <a:chOff x="0" y="0"/>
            <a:chExt cx="3810000" cy="3333900"/>
          </a:xfrm>
        </p:grpSpPr>
        <p:sp>
          <p:nvSpPr>
            <p:cNvPr id="365" name="Google Shape;365;p22"/>
            <p:cNvSpPr/>
            <p:nvPr/>
          </p:nvSpPr>
          <p:spPr>
            <a:xfrm>
              <a:off x="0" y="0"/>
              <a:ext cx="3810000" cy="33339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6" name="Google Shape;366;p22"/>
            <p:cNvSpPr txBox="1"/>
            <p:nvPr/>
          </p:nvSpPr>
          <p:spPr>
            <a:xfrm>
              <a:off x="228600" y="228600"/>
              <a:ext cx="3352800" cy="287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FFFFF"/>
                  </a:solidFill>
                  <a:latin typeface="Inter"/>
                  <a:ea typeface="Inter"/>
                  <a:cs typeface="Inter"/>
                  <a:sym typeface="Inter"/>
                </a:rPr>
                <a:t>SPECIFIC APPROVALS REQUESTED</a:t>
              </a:r>
              <a:endParaRPr b="1" sz="1000">
                <a:solidFill>
                  <a:srgbClr val="FFFFFF"/>
                </a:solidFill>
                <a:latin typeface="Inter"/>
                <a:ea typeface="Inter"/>
                <a:cs typeface="Inter"/>
                <a:sym typeface="Inter"/>
              </a:endParaRPr>
            </a:p>
            <a:p>
              <a:pPr indent="0" lvl="0" marL="0" rtl="0" algn="l">
                <a:spcBef>
                  <a:spcPts val="900"/>
                </a:spcBef>
                <a:spcAft>
                  <a:spcPts val="0"/>
                </a:spcAft>
                <a:buNone/>
              </a:pPr>
              <a:r>
                <a:rPr b="1" lang="en" sz="1100">
                  <a:solidFill>
                    <a:srgbClr val="FFFFFF"/>
                  </a:solidFill>
                  <a:latin typeface="Inter"/>
                  <a:ea typeface="Inter"/>
                  <a:cs typeface="Inter"/>
                  <a:sym typeface="Inter"/>
                </a:rPr>
                <a:t>1. Capital Expenditure</a:t>
              </a:r>
              <a:endParaRPr b="1" sz="11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FFFFFF"/>
                  </a:solidFill>
                  <a:latin typeface="Inter"/>
                  <a:ea typeface="Inter"/>
                  <a:cs typeface="Inter"/>
                  <a:sym typeface="Inter"/>
                </a:rPr>
                <a:t>Approve £260,000 Phase 1 capital expenditure.</a:t>
              </a:r>
              <a:endParaRPr b="0" sz="1100">
                <a:solidFill>
                  <a:srgbClr val="FFFFFF"/>
                </a:solidFill>
                <a:latin typeface="Inter"/>
                <a:ea typeface="Inter"/>
                <a:cs typeface="Inter"/>
                <a:sym typeface="Inter"/>
              </a:endParaRPr>
            </a:p>
            <a:p>
              <a:pPr indent="0" lvl="0" marL="0" rtl="0" algn="l">
                <a:spcBef>
                  <a:spcPts val="1200"/>
                </a:spcBef>
                <a:spcAft>
                  <a:spcPts val="0"/>
                </a:spcAft>
                <a:buNone/>
              </a:pPr>
              <a:r>
                <a:rPr b="1" lang="en" sz="1100">
                  <a:solidFill>
                    <a:srgbClr val="FFFFFF"/>
                  </a:solidFill>
                  <a:latin typeface="Inter"/>
                  <a:ea typeface="Inter"/>
                  <a:cs typeface="Inter"/>
                  <a:sym typeface="Inter"/>
                </a:rPr>
                <a:t>2. Backlog Refinement</a:t>
              </a:r>
              <a:endParaRPr b="1" sz="11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FFFFFF"/>
                  </a:solidFill>
                  <a:latin typeface="Inter"/>
                  <a:ea typeface="Inter"/>
                  <a:cs typeface="Inter"/>
                  <a:sym typeface="Inter"/>
                </a:rPr>
                <a:t>Authorise Product Manager (Priya) to initiate Sprint 1 backlog refinement.</a:t>
              </a:r>
              <a:endParaRPr b="0" sz="1100">
                <a:solidFill>
                  <a:srgbClr val="FFFFFF"/>
                </a:solidFill>
                <a:latin typeface="Inter"/>
                <a:ea typeface="Inter"/>
                <a:cs typeface="Inter"/>
                <a:sym typeface="Inter"/>
              </a:endParaRPr>
            </a:p>
            <a:p>
              <a:pPr indent="0" lvl="0" marL="0" rtl="0" algn="l">
                <a:spcBef>
                  <a:spcPts val="1200"/>
                </a:spcBef>
                <a:spcAft>
                  <a:spcPts val="0"/>
                </a:spcAft>
                <a:buNone/>
              </a:pPr>
              <a:r>
                <a:rPr b="1" lang="en" sz="1100">
                  <a:solidFill>
                    <a:srgbClr val="FFFFFF"/>
                  </a:solidFill>
                  <a:latin typeface="Inter"/>
                  <a:ea typeface="Inter"/>
                  <a:cs typeface="Inter"/>
                  <a:sym typeface="Inter"/>
                </a:rPr>
                <a:t>3. Operational Protocols</a:t>
              </a:r>
              <a:endParaRPr b="1" sz="1100">
                <a:solidFill>
                  <a:srgbClr val="FFFFFF"/>
                </a:solidFill>
                <a:latin typeface="Inter"/>
                <a:ea typeface="Inter"/>
                <a:cs typeface="Inter"/>
                <a:sym typeface="Inter"/>
              </a:endParaRPr>
            </a:p>
            <a:p>
              <a:pPr indent="0" lvl="0" marL="0" rtl="0" algn="l">
                <a:spcBef>
                  <a:spcPts val="300"/>
                </a:spcBef>
                <a:spcAft>
                  <a:spcPts val="0"/>
                </a:spcAft>
                <a:buNone/>
              </a:pPr>
              <a:r>
                <a:rPr b="0" lang="en" sz="1100">
                  <a:solidFill>
                    <a:srgbClr val="FFFFFF"/>
                  </a:solidFill>
                  <a:latin typeface="Inter"/>
                  <a:ea typeface="Inter"/>
                  <a:cs typeface="Inter"/>
                  <a:sym typeface="Inter"/>
                </a:rPr>
                <a:t>Approve operational triage rules and context hand-off protocols with Collections Leadership (Gareth).</a:t>
              </a:r>
              <a:endParaRPr b="0" sz="1100">
                <a:solidFill>
                  <a:srgbClr val="FFFFFF"/>
                </a:solidFill>
                <a:latin typeface="Inter"/>
                <a:ea typeface="Inter"/>
                <a:cs typeface="Inter"/>
                <a:sym typeface="Inter"/>
              </a:endParaRPr>
            </a:p>
          </p:txBody>
        </p:sp>
      </p:grpSp>
      <p:grpSp>
        <p:nvGrpSpPr>
          <p:cNvPr id="367" name="Google Shape;367;p22"/>
          <p:cNvGrpSpPr/>
          <p:nvPr/>
        </p:nvGrpSpPr>
        <p:grpSpPr>
          <a:xfrm>
            <a:off x="4953000" y="1333500"/>
            <a:ext cx="3810000" cy="2810025"/>
            <a:chOff x="0" y="0"/>
            <a:chExt cx="3810000" cy="2810025"/>
          </a:xfrm>
        </p:grpSpPr>
        <p:sp>
          <p:nvSpPr>
            <p:cNvPr id="368" name="Google Shape;368;p22"/>
            <p:cNvSpPr txBox="1"/>
            <p:nvPr/>
          </p:nvSpPr>
          <p:spPr>
            <a:xfrm>
              <a:off x="0" y="0"/>
              <a:ext cx="3810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0A0A0A"/>
                  </a:solidFill>
                  <a:latin typeface="Inter SemiBold"/>
                  <a:ea typeface="Inter SemiBold"/>
                  <a:cs typeface="Inter SemiBold"/>
                  <a:sym typeface="Inter SemiBold"/>
                </a:rPr>
                <a:t>Immediate Delivery Roadmap</a:t>
              </a:r>
              <a:endParaRPr b="0" sz="1600">
                <a:solidFill>
                  <a:srgbClr val="0A0A0A"/>
                </a:solidFill>
                <a:latin typeface="Inter SemiBold"/>
                <a:ea typeface="Inter SemiBold"/>
                <a:cs typeface="Inter SemiBold"/>
                <a:sym typeface="Inter SemiBold"/>
              </a:endParaRPr>
            </a:p>
          </p:txBody>
        </p:sp>
        <p:grpSp>
          <p:nvGrpSpPr>
            <p:cNvPr id="369" name="Google Shape;369;p22"/>
            <p:cNvGrpSpPr/>
            <p:nvPr/>
          </p:nvGrpSpPr>
          <p:grpSpPr>
            <a:xfrm>
              <a:off x="0" y="428625"/>
              <a:ext cx="3810000" cy="809700"/>
              <a:chOff x="0" y="0"/>
              <a:chExt cx="3810000" cy="809700"/>
            </a:xfrm>
          </p:grpSpPr>
          <p:sp>
            <p:nvSpPr>
              <p:cNvPr id="370" name="Google Shape;370;p22"/>
              <p:cNvSpPr/>
              <p:nvPr/>
            </p:nvSpPr>
            <p:spPr>
              <a:xfrm>
                <a:off x="0" y="0"/>
                <a:ext cx="304800" cy="3048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22"/>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FFFFFF"/>
                    </a:solidFill>
                    <a:latin typeface="Inter ExtraBold"/>
                    <a:ea typeface="Inter ExtraBold"/>
                    <a:cs typeface="Inter ExtraBold"/>
                    <a:sym typeface="Inter ExtraBold"/>
                  </a:rPr>
                  <a:t>W3</a:t>
                </a:r>
                <a:endParaRPr/>
              </a:p>
            </p:txBody>
          </p:sp>
          <p:sp>
            <p:nvSpPr>
              <p:cNvPr id="372" name="Google Shape;372;p22"/>
              <p:cNvSpPr txBox="1"/>
              <p:nvPr/>
            </p:nvSpPr>
            <p:spPr>
              <a:xfrm>
                <a:off x="419100" y="0"/>
                <a:ext cx="3390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Sprint 1 Kickoff</a:t>
                </a:r>
                <a:endParaRPr b="1" sz="1200">
                  <a:solidFill>
                    <a:srgbClr val="0A0A0A"/>
                  </a:solidFill>
                  <a:latin typeface="Inter"/>
                  <a:ea typeface="Inter"/>
                  <a:cs typeface="Inter"/>
                  <a:sym typeface="Inter"/>
                </a:endParaRPr>
              </a:p>
              <a:p>
                <a:pPr indent="0" lvl="0" marL="0" rtl="0" algn="l">
                  <a:spcBef>
                    <a:spcPts val="300"/>
                  </a:spcBef>
                  <a:spcAft>
                    <a:spcPts val="0"/>
                  </a:spcAft>
                  <a:buNone/>
                </a:pPr>
                <a:r>
                  <a:rPr b="0" lang="en" sz="1100">
                    <a:solidFill>
                      <a:srgbClr val="4A4A4A"/>
                    </a:solidFill>
                    <a:latin typeface="Inter"/>
                    <a:ea typeface="Inter"/>
                    <a:cs typeface="Inter"/>
                    <a:sym typeface="Inter"/>
                  </a:rPr>
                  <a:t>Focus on 2FA Authentication and Legacy DB Read API.</a:t>
                </a:r>
                <a:endParaRPr b="0" sz="1100">
                  <a:solidFill>
                    <a:srgbClr val="4A4A4A"/>
                  </a:solidFill>
                  <a:latin typeface="Inter"/>
                  <a:ea typeface="Inter"/>
                  <a:cs typeface="Inter"/>
                  <a:sym typeface="Inter"/>
                </a:endParaRPr>
              </a:p>
            </p:txBody>
          </p:sp>
          <p:cxnSp>
            <p:nvCxnSpPr>
              <p:cNvPr id="373" name="Google Shape;373;p22"/>
              <p:cNvCxnSpPr/>
              <p:nvPr/>
            </p:nvCxnSpPr>
            <p:spPr>
              <a:xfrm>
                <a:off x="152400" y="304800"/>
                <a:ext cx="0" cy="504900"/>
              </a:xfrm>
              <a:prstGeom prst="straightConnector1">
                <a:avLst/>
              </a:prstGeom>
              <a:solidFill>
                <a:srgbClr val="FFFFFF"/>
              </a:solidFill>
              <a:ln cap="flat" cmpd="sng" w="19050">
                <a:solidFill>
                  <a:srgbClr val="E2E8F0"/>
                </a:solidFill>
                <a:prstDash val="solid"/>
                <a:round/>
                <a:headEnd len="sm" w="sm" type="none"/>
                <a:tailEnd len="sm" w="sm" type="none"/>
              </a:ln>
            </p:spPr>
          </p:cxnSp>
        </p:grpSp>
        <p:grpSp>
          <p:nvGrpSpPr>
            <p:cNvPr id="374" name="Google Shape;374;p22"/>
            <p:cNvGrpSpPr/>
            <p:nvPr/>
          </p:nvGrpSpPr>
          <p:grpSpPr>
            <a:xfrm>
              <a:off x="0" y="1285875"/>
              <a:ext cx="3810000" cy="809700"/>
              <a:chOff x="0" y="0"/>
              <a:chExt cx="3810000" cy="809700"/>
            </a:xfrm>
          </p:grpSpPr>
          <p:sp>
            <p:nvSpPr>
              <p:cNvPr id="375" name="Google Shape;375;p22"/>
              <p:cNvSpPr/>
              <p:nvPr/>
            </p:nvSpPr>
            <p:spPr>
              <a:xfrm>
                <a:off x="0" y="0"/>
                <a:ext cx="304800" cy="304800"/>
              </a:xfrm>
              <a:prstGeom prst="rect">
                <a:avLst/>
              </a:prstGeom>
              <a:solidFill>
                <a:srgbClr val="0A0A0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2"/>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FFFFFF"/>
                    </a:solidFill>
                    <a:latin typeface="Inter ExtraBold"/>
                    <a:ea typeface="Inter ExtraBold"/>
                    <a:cs typeface="Inter ExtraBold"/>
                    <a:sym typeface="Inter ExtraBold"/>
                  </a:rPr>
                  <a:t>W6</a:t>
                </a:r>
                <a:endParaRPr/>
              </a:p>
            </p:txBody>
          </p:sp>
          <p:sp>
            <p:nvSpPr>
              <p:cNvPr id="377" name="Google Shape;377;p22"/>
              <p:cNvSpPr txBox="1"/>
              <p:nvPr/>
            </p:nvSpPr>
            <p:spPr>
              <a:xfrm>
                <a:off x="419100" y="0"/>
                <a:ext cx="3390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A0A0A"/>
                    </a:solidFill>
                    <a:latin typeface="Inter"/>
                    <a:ea typeface="Inter"/>
                    <a:cs typeface="Inter"/>
                    <a:sym typeface="Inter"/>
                  </a:rPr>
                  <a:t>Representative UAT</a:t>
                </a:r>
                <a:endParaRPr b="1" sz="1200">
                  <a:solidFill>
                    <a:srgbClr val="0A0A0A"/>
                  </a:solidFill>
                  <a:latin typeface="Inter"/>
                  <a:ea typeface="Inter"/>
                  <a:cs typeface="Inter"/>
                  <a:sym typeface="Inter"/>
                </a:endParaRPr>
              </a:p>
              <a:p>
                <a:pPr indent="0" lvl="0" marL="0" rtl="0" algn="l">
                  <a:spcBef>
                    <a:spcPts val="300"/>
                  </a:spcBef>
                  <a:spcAft>
                    <a:spcPts val="0"/>
                  </a:spcAft>
                  <a:buNone/>
                </a:pPr>
                <a:r>
                  <a:rPr b="0" lang="en" sz="1100">
                    <a:solidFill>
                      <a:srgbClr val="4A4A4A"/>
                    </a:solidFill>
                    <a:latin typeface="Inter"/>
                    <a:ea typeface="Inter"/>
                    <a:cs typeface="Inter"/>
                    <a:sym typeface="Inter"/>
                  </a:rPr>
                  <a:t>Context Payload Verification.</a:t>
                </a:r>
                <a:endParaRPr b="0" sz="1100">
                  <a:solidFill>
                    <a:srgbClr val="4A4A4A"/>
                  </a:solidFill>
                  <a:latin typeface="Inter"/>
                  <a:ea typeface="Inter"/>
                  <a:cs typeface="Inter"/>
                  <a:sym typeface="Inter"/>
                </a:endParaRPr>
              </a:p>
            </p:txBody>
          </p:sp>
          <p:cxnSp>
            <p:nvCxnSpPr>
              <p:cNvPr id="378" name="Google Shape;378;p22"/>
              <p:cNvCxnSpPr/>
              <p:nvPr/>
            </p:nvCxnSpPr>
            <p:spPr>
              <a:xfrm>
                <a:off x="152400" y="304800"/>
                <a:ext cx="0" cy="504900"/>
              </a:xfrm>
              <a:prstGeom prst="straightConnector1">
                <a:avLst/>
              </a:prstGeom>
              <a:solidFill>
                <a:srgbClr val="FFFFFF"/>
              </a:solidFill>
              <a:ln cap="flat" cmpd="sng" w="19050">
                <a:solidFill>
                  <a:srgbClr val="E2E8F0"/>
                </a:solidFill>
                <a:prstDash val="solid"/>
                <a:round/>
                <a:headEnd len="sm" w="sm" type="none"/>
                <a:tailEnd len="sm" w="sm" type="none"/>
              </a:ln>
            </p:spPr>
          </p:cxnSp>
        </p:grpSp>
        <p:grpSp>
          <p:nvGrpSpPr>
            <p:cNvPr id="379" name="Google Shape;379;p22"/>
            <p:cNvGrpSpPr/>
            <p:nvPr/>
          </p:nvGrpSpPr>
          <p:grpSpPr>
            <a:xfrm>
              <a:off x="0" y="2143125"/>
              <a:ext cx="3810000" cy="666900"/>
              <a:chOff x="0" y="0"/>
              <a:chExt cx="3810000" cy="666900"/>
            </a:xfrm>
          </p:grpSpPr>
          <p:sp>
            <p:nvSpPr>
              <p:cNvPr id="380" name="Google Shape;380;p22"/>
              <p:cNvSpPr/>
              <p:nvPr/>
            </p:nvSpPr>
            <p:spPr>
              <a:xfrm>
                <a:off x="0" y="0"/>
                <a:ext cx="304800" cy="304800"/>
              </a:xfrm>
              <a:prstGeom prst="rect">
                <a:avLst/>
              </a:prstGeom>
              <a:solidFill>
                <a:srgbClr val="005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2"/>
              <p:cNvSpPr txBox="1"/>
              <p:nvPr/>
            </p:nvSpPr>
            <p:spPr>
              <a:xfrm>
                <a:off x="0" y="0"/>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FFFFFF"/>
                    </a:solidFill>
                    <a:latin typeface="Inter ExtraBold"/>
                    <a:ea typeface="Inter ExtraBold"/>
                    <a:cs typeface="Inter ExtraBold"/>
                    <a:sym typeface="Inter ExtraBold"/>
                  </a:rPr>
                  <a:t>W8</a:t>
                </a:r>
                <a:endParaRPr/>
              </a:p>
            </p:txBody>
          </p:sp>
          <p:sp>
            <p:nvSpPr>
              <p:cNvPr id="382" name="Google Shape;382;p22"/>
              <p:cNvSpPr txBox="1"/>
              <p:nvPr/>
            </p:nvSpPr>
            <p:spPr>
              <a:xfrm>
                <a:off x="419100" y="0"/>
                <a:ext cx="3390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055FF"/>
                    </a:solidFill>
                    <a:latin typeface="Inter"/>
                    <a:ea typeface="Inter"/>
                    <a:cs typeface="Inter"/>
                    <a:sym typeface="Inter"/>
                  </a:rPr>
                  <a:t>Phased 10% Pilot Rollout</a:t>
                </a:r>
                <a:endParaRPr b="1" sz="1200">
                  <a:solidFill>
                    <a:srgbClr val="0055FF"/>
                  </a:solidFill>
                  <a:latin typeface="Inter"/>
                  <a:ea typeface="Inter"/>
                  <a:cs typeface="Inter"/>
                  <a:sym typeface="Inter"/>
                </a:endParaRPr>
              </a:p>
              <a:p>
                <a:pPr indent="0" lvl="0" marL="0" rtl="0" algn="l">
                  <a:spcBef>
                    <a:spcPts val="300"/>
                  </a:spcBef>
                  <a:spcAft>
                    <a:spcPts val="0"/>
                  </a:spcAft>
                  <a:buNone/>
                </a:pPr>
                <a:r>
                  <a:rPr b="0" lang="en" sz="1100">
                    <a:solidFill>
                      <a:srgbClr val="4A4A4A"/>
                    </a:solidFill>
                    <a:latin typeface="Inter"/>
                    <a:ea typeface="Inter"/>
                    <a:cs typeface="Inter"/>
                    <a:sym typeface="Inter"/>
                  </a:rPr>
                  <a:t>Targeted rollout on 1–29 DPD accounts.</a:t>
                </a:r>
                <a:endParaRPr b="0" sz="1100">
                  <a:solidFill>
                    <a:srgbClr val="4A4A4A"/>
                  </a:solidFill>
                  <a:latin typeface="Inter"/>
                  <a:ea typeface="Inter"/>
                  <a:cs typeface="Inter"/>
                  <a:sym typeface="Inter"/>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